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8"/>
  </p:notesMasterIdLst>
  <p:handoutMasterIdLst>
    <p:handoutMasterId r:id="rId9"/>
  </p:handoutMasterIdLst>
  <p:sldIdLst>
    <p:sldId id="377" r:id="rId2"/>
    <p:sldId id="405" r:id="rId3"/>
    <p:sldId id="406" r:id="rId4"/>
    <p:sldId id="407" r:id="rId5"/>
    <p:sldId id="389" r:id="rId6"/>
    <p:sldId id="397" r:id="rId7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作者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C16548"/>
    <a:srgbClr val="EFE9E7"/>
    <a:srgbClr val="CB6E50"/>
    <a:srgbClr val="E1C9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44" autoAdjust="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outlineViewPr>
    <p:cViewPr>
      <p:scale>
        <a:sx n="33" d="100"/>
        <a:sy n="33" d="100"/>
      </p:scale>
      <p:origin x="0" y="-68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id="{072623BC-5453-41D9-8AAA-DC8C046E78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F67D222-4B37-4341-A20E-5F7F6C3448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8BAC477-6E59-4EAD-B66B-385D6176C196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2026/4/21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B166901-B1E0-4CE0-9E4B-28767C8733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9224F09-7EC3-4666-A1BC-C6E796D196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248A818-BD7E-4D23-9FDE-11234E86998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0667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552E681-7C17-43A6-B7E4-99A4902B769F}" type="datetime1">
              <a:rPr lang="zh-TW" altLang="en-US" smtClean="0"/>
              <a:pPr/>
              <a:t>2026/4/21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43A4303-F8B1-2446-9487-0E9B8F29976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124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各位評審老師好，我們是</a:t>
            </a:r>
            <a:r>
              <a:rPr lang="en-US" altLang="zh-TW" dirty="0"/>
              <a:t>Feels Team</a:t>
            </a:r>
            <a:r>
              <a:rPr lang="zh-TW" altLang="en-US" dirty="0"/>
              <a:t>。 在開始之前，想請各位想像一個畫面：為了控制病情，每天必須在自己的手指上扎針三到四次，一年下來，就是一千多個傷口。這不是電影情節，而是全球數億名糖尿病患者，以及我們許多人家中長輩每天的日常。 因為怕痛、嫌麻煩，許多患者減少了量測頻率，反而錯失了控制血糖的最佳時機。我們團隊就在思考：</a:t>
            </a:r>
            <a:r>
              <a:rPr lang="zh-TW" altLang="en-US" b="1" dirty="0"/>
              <a:t>難道，我們不能用更溫柔的方式來對待病患嗎？</a:t>
            </a:r>
            <a:endParaRPr lang="zh-TW" altLang="en-US" noProof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A4303-F8B1-2446-9487-0E9B8F299762}" type="slidenum">
              <a:rPr lang="en-US" altLang="zh-TW" smtClean="0"/>
              <a:pPr/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3868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搭配正本</a:t>
            </a:r>
            <a:r>
              <a:rPr lang="en-US" altLang="zh-TW" dirty="0"/>
              <a:t>P4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A4303-F8B1-2446-9487-0E9B8F299762}" type="slidenum">
              <a:rPr lang="en-US" altLang="zh-TW" smtClean="0"/>
              <a:pPr/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5140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13F0A-6BB5-31E6-7722-162580A1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203274F-A79E-6042-DC33-715704521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89A144-8EA5-0325-9076-9ED3F151B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搭配正本</a:t>
            </a:r>
            <a:r>
              <a:rPr lang="en-US" altLang="zh-TW" dirty="0"/>
              <a:t>P5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B6684F-3879-6C31-0A94-45CBB04A54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A4303-F8B1-2446-9487-0E9B8F299762}" type="slidenum">
              <a:rPr lang="en-US" altLang="zh-TW" smtClean="0"/>
              <a:pPr/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6051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7C742-CC92-9C0F-695F-493CAD0D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74FE8F7-971B-B632-9C2B-6B63D3A0D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572F7D-7F4B-66A9-EB72-C69E225CE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搭配正本</a:t>
            </a:r>
            <a:r>
              <a:rPr lang="en-US" altLang="zh-TW" dirty="0"/>
              <a:t>P7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48A6CA-F9FA-437C-93CA-2C7063E5D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A4303-F8B1-2446-9487-0E9B8F299762}" type="slidenum">
              <a:rPr lang="en-US" altLang="zh-TW" smtClean="0"/>
              <a:pPr/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5495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搭配正本</a:t>
            </a:r>
            <a:r>
              <a:rPr lang="en-US" altLang="zh-TW" dirty="0"/>
              <a:t>P10</a:t>
            </a:r>
            <a:endParaRPr lang="zh-TW" altLang="en-US" dirty="0"/>
          </a:p>
          <a:p>
            <a:endParaRPr lang="en-US" altLang="zh-TW" dirty="0"/>
          </a:p>
          <a:p>
            <a:r>
              <a:rPr lang="zh-TW" altLang="en-US" dirty="0"/>
              <a:t>了解市場定位後，我們也對健康氣味雷達進行了 </a:t>
            </a:r>
            <a:r>
              <a:rPr lang="en-US" altLang="zh-TW" dirty="0"/>
              <a:t>SWOT </a:t>
            </a:r>
            <a:r>
              <a:rPr lang="zh-TW" altLang="en-US" dirty="0"/>
              <a:t>分析。</a:t>
            </a:r>
          </a:p>
          <a:p>
            <a:r>
              <a:rPr lang="zh-TW" altLang="en-US" dirty="0"/>
              <a:t>我們的</a:t>
            </a:r>
            <a:r>
              <a:rPr lang="zh-TW" altLang="en-US" b="1" dirty="0"/>
              <a:t>絕對優勢</a:t>
            </a:r>
            <a:r>
              <a:rPr lang="zh-TW" altLang="en-US" dirty="0"/>
              <a:t>在於</a:t>
            </a:r>
            <a:r>
              <a:rPr lang="en-US" altLang="zh-TW" dirty="0"/>
              <a:t>『</a:t>
            </a:r>
            <a:r>
              <a:rPr lang="zh-TW" altLang="en-US" dirty="0"/>
              <a:t>無痛</a:t>
            </a:r>
            <a:r>
              <a:rPr lang="en-US" altLang="zh-TW" dirty="0"/>
              <a:t>』</a:t>
            </a:r>
            <a:r>
              <a:rPr lang="zh-TW" altLang="en-US" dirty="0"/>
              <a:t>與</a:t>
            </a:r>
            <a:r>
              <a:rPr lang="en-US" altLang="zh-TW" dirty="0"/>
              <a:t>『</a:t>
            </a:r>
            <a:r>
              <a:rPr lang="zh-TW" altLang="en-US" dirty="0"/>
              <a:t>邊緣 </a:t>
            </a:r>
            <a:r>
              <a:rPr lang="en-US" altLang="zh-TW" dirty="0"/>
              <a:t>AI </a:t>
            </a:r>
            <a:r>
              <a:rPr lang="zh-TW" altLang="en-US" dirty="0"/>
              <a:t>的即時性</a:t>
            </a:r>
            <a:r>
              <a:rPr lang="en-US" altLang="zh-TW" dirty="0"/>
              <a:t>』</a:t>
            </a:r>
            <a:r>
              <a:rPr lang="zh-TW" altLang="en-US" dirty="0"/>
              <a:t>；同時，高齡化與預防醫學的趨勢，也為我們帶來了龐大的</a:t>
            </a:r>
            <a:r>
              <a:rPr lang="zh-TW" altLang="en-US" b="1" dirty="0"/>
              <a:t>市場機會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當然，我們也清楚目前面臨的</a:t>
            </a:r>
            <a:r>
              <a:rPr lang="zh-TW" altLang="en-US" b="1" dirty="0"/>
              <a:t>挑戰</a:t>
            </a:r>
            <a:r>
              <a:rPr lang="zh-TW" altLang="en-US" dirty="0"/>
              <a:t>。作為新創產品，我們目前缺乏 </a:t>
            </a:r>
            <a:r>
              <a:rPr lang="en-US" altLang="zh-TW" dirty="0"/>
              <a:t>TFDA </a:t>
            </a:r>
            <a:r>
              <a:rPr lang="zh-TW" altLang="en-US" dirty="0"/>
              <a:t>醫療認證，且感測器容易受環境干擾。此外，面對醫療大廠的 </a:t>
            </a:r>
            <a:r>
              <a:rPr lang="en-US" altLang="zh-TW" dirty="0"/>
              <a:t>CGM </a:t>
            </a:r>
            <a:r>
              <a:rPr lang="zh-TW" altLang="en-US" dirty="0"/>
              <a:t>產品降價競爭，這都是我們必須防範的</a:t>
            </a:r>
            <a:r>
              <a:rPr lang="zh-TW" altLang="en-US" b="1" dirty="0"/>
              <a:t>威脅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因此，我們接下來的 </a:t>
            </a:r>
            <a:r>
              <a:rPr lang="en-US" altLang="zh-TW" dirty="0"/>
              <a:t>Roadmap</a:t>
            </a:r>
            <a:r>
              <a:rPr lang="zh-TW" altLang="en-US" dirty="0"/>
              <a:t>，就是專注於提升硬體抗干擾能力，並積極推進大型臨床試驗，以取得醫療認證作為首要目標。」</a:t>
            </a:r>
          </a:p>
          <a:p>
            <a:br>
              <a:rPr lang="zh-TW" altLang="en-US" dirty="0"/>
            </a:br>
            <a:endParaRPr lang="zh-TW" altLang="en-US" dirty="0"/>
          </a:p>
          <a:p>
            <a:r>
              <a:rPr lang="zh-TW" altLang="en-US" dirty="0"/>
              <a:t>這份 </a:t>
            </a:r>
            <a:r>
              <a:rPr lang="en-US" altLang="zh-TW" dirty="0"/>
              <a:t>SWOT </a:t>
            </a:r>
            <a:r>
              <a:rPr lang="zh-TW" altLang="en-US" dirty="0"/>
              <a:t>分析非常誠實地展現了產品的現況，評審通常很欣賞這種不畫大餅的團隊。針對這份分析中的「劣勢 </a:t>
            </a:r>
            <a:r>
              <a:rPr lang="en-US" altLang="zh-TW" dirty="0"/>
              <a:t>(W)</a:t>
            </a:r>
            <a:r>
              <a:rPr lang="zh-TW" altLang="en-US" dirty="0"/>
              <a:t>」與「威脅 </a:t>
            </a:r>
            <a:r>
              <a:rPr lang="en-US" altLang="zh-TW" dirty="0"/>
              <a:t>(T)</a:t>
            </a:r>
            <a:r>
              <a:rPr lang="zh-TW" altLang="en-US" dirty="0"/>
              <a:t>」，你覺得評審在 </a:t>
            </a:r>
            <a:r>
              <a:rPr lang="en-US" altLang="zh-TW" dirty="0"/>
              <a:t>QA </a:t>
            </a:r>
            <a:r>
              <a:rPr lang="zh-TW" altLang="en-US" dirty="0"/>
              <a:t>環節最有可能對哪一點發動攻擊？我們是否需要先準備好防守的說帖？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A4303-F8B1-2446-9487-0E9B8F299762}" type="slidenum">
              <a:rPr lang="en-US" altLang="zh-TW" smtClean="0"/>
              <a:pPr/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0908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搭配正本</a:t>
            </a:r>
            <a:r>
              <a:rPr lang="en-US" altLang="zh-TW" dirty="0"/>
              <a:t>P12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A4303-F8B1-2446-9487-0E9B8F299762}" type="slidenum">
              <a:rPr lang="en-US" altLang="zh-TW" smtClean="0"/>
              <a:pPr/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04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1">
            <a:extLst>
              <a:ext uri="{FF2B5EF4-FFF2-40B4-BE49-F238E27FC236}">
                <a16:creationId xmlns:a16="http://schemas.microsoft.com/office/drawing/2014/main" id="{5159547C-AB38-C793-550F-7C7D6CEE22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8224" y="-1"/>
            <a:ext cx="11035552" cy="6858001"/>
          </a:xfrm>
          <a:noFill/>
        </p:spPr>
        <p:txBody>
          <a:bodyPr lIns="0" tIns="0" rIns="0" bIns="0" rtlCol="0" anchor="ctr">
            <a:noAutofit/>
          </a:bodyPr>
          <a:lstStyle>
            <a:lvl1pPr algn="l">
              <a:defRPr sz="8000" kern="1200" spc="1000" baseline="0">
                <a:ln>
                  <a:noFill/>
                </a:ln>
                <a:solidFill>
                  <a:srgbClr val="CB6E5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</a:p>
        </p:txBody>
      </p:sp>
      <p:sp>
        <p:nvSpPr>
          <p:cNvPr id="8" name="圖片版面配置區 26">
            <a:extLst>
              <a:ext uri="{FF2B5EF4-FFF2-40B4-BE49-F238E27FC236}">
                <a16:creationId xmlns:a16="http://schemas.microsoft.com/office/drawing/2014/main" id="{C0B4C216-E27C-7A50-CF5C-D340913FF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8308" y="604554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0C4CF15-8EEB-3E61-A35B-A44FACDCD3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28308" y="5901989"/>
            <a:ext cx="4085468" cy="468087"/>
          </a:xfrm>
        </p:spPr>
        <p:txBody>
          <a:bodyPr lIns="0" tIns="0" rIns="0" bIns="0" rtlCol="0">
            <a:normAutofit/>
          </a:bodyPr>
          <a:lstStyle>
            <a:lvl1pPr marL="0" indent="0" algn="ctr">
              <a:buNone/>
              <a:defRPr sz="1800" b="0" i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830254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rtlCol="0" anchor="t"/>
          <a:lstStyle>
            <a:lvl1pPr>
              <a:defRPr sz="5500">
                <a:solidFill>
                  <a:schemeClr val="accent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3F1B2C6-F3A6-F65F-DF38-0E32604698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358823"/>
            <a:ext cx="6644109" cy="6858000"/>
          </a:xfrm>
        </p:spPr>
        <p:txBody>
          <a:bodyPr rtlCol="0" anchor="t">
            <a:noAutofit/>
          </a:bodyPr>
          <a:lstStyle>
            <a:lvl1pPr marL="0" indent="0">
              <a:lnSpc>
                <a:spcPct val="75000"/>
              </a:lnSpc>
              <a:spcBef>
                <a:spcPts val="0"/>
              </a:spcBef>
              <a:buNone/>
              <a:defRPr sz="76000" b="0" spc="1000">
                <a:solidFill>
                  <a:schemeClr val="accent1">
                    <a:alpha val="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pc="1000">
                <a:latin typeface="Felix Titling" pitchFamily="82" charset="77"/>
              </a:defRPr>
            </a:lvl2pPr>
            <a:lvl3pPr marL="914400" indent="0">
              <a:buNone/>
              <a:defRPr spc="1000">
                <a:latin typeface="Felix Titling" pitchFamily="82" charset="77"/>
              </a:defRPr>
            </a:lvl3pPr>
            <a:lvl4pPr marL="1371600" indent="0">
              <a:buNone/>
              <a:defRPr spc="1000">
                <a:latin typeface="Felix Titling" pitchFamily="82" charset="77"/>
              </a:defRPr>
            </a:lvl4pPr>
            <a:lvl5pPr marL="1828800" indent="0">
              <a:buNone/>
              <a:defRPr spc="1000">
                <a:latin typeface="Felix Titling" pitchFamily="82" charset="77"/>
              </a:defRPr>
            </a:lvl5pPr>
          </a:lstStyle>
          <a:p>
            <a:pPr lvl="0" rtl="0"/>
            <a:r>
              <a:rPr lang="en-US" altLang="zh-TW" noProof="0" dirty="0"/>
              <a:t>A</a:t>
            </a:r>
            <a:endParaRPr lang="zh-TW" altLang="en-US" noProof="0" dirty="0"/>
          </a:p>
        </p:txBody>
      </p:sp>
      <p:sp>
        <p:nvSpPr>
          <p:cNvPr id="8" name="文字版面配置區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2547296"/>
            <a:ext cx="2227344" cy="67781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8" name="文字版面配置區 15">
            <a:extLst>
              <a:ext uri="{FF2B5EF4-FFF2-40B4-BE49-F238E27FC236}">
                <a16:creationId xmlns:a16="http://schemas.microsoft.com/office/drawing/2014/main" id="{25014DBD-FC37-6FBB-AEBA-C826652821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34373" y="2547296"/>
            <a:ext cx="2227344" cy="67781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6" name="文字版面配置區 15">
            <a:extLst>
              <a:ext uri="{FF2B5EF4-FFF2-40B4-BE49-F238E27FC236}">
                <a16:creationId xmlns:a16="http://schemas.microsoft.com/office/drawing/2014/main" id="{F62835A7-C3E7-285E-CDF2-A44B022CFA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0284" y="2547296"/>
            <a:ext cx="2227344" cy="67781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4" name="文字版面配置區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194" y="2547296"/>
            <a:ext cx="2227344" cy="67781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1" name="文字版面配置區 18">
            <a:extLst>
              <a:ext uri="{FF2B5EF4-FFF2-40B4-BE49-F238E27FC236}">
                <a16:creationId xmlns:a16="http://schemas.microsoft.com/office/drawing/2014/main" id="{AAD5CDF0-03F4-067C-A930-F9EEE3F0E3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8462" y="3225113"/>
            <a:ext cx="2227344" cy="2707233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22" name="文字版面配置區 18">
            <a:extLst>
              <a:ext uri="{FF2B5EF4-FFF2-40B4-BE49-F238E27FC236}">
                <a16:creationId xmlns:a16="http://schemas.microsoft.com/office/drawing/2014/main" id="{1EA0E8C0-9652-ED9C-4CD9-6B72392D6DF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34369" y="3225113"/>
            <a:ext cx="2227344" cy="2707233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23" name="文字版面配置區 18">
            <a:extLst>
              <a:ext uri="{FF2B5EF4-FFF2-40B4-BE49-F238E27FC236}">
                <a16:creationId xmlns:a16="http://schemas.microsoft.com/office/drawing/2014/main" id="{50155057-5F64-A44D-EBB6-913EC89187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30041" y="3225113"/>
            <a:ext cx="2227344" cy="2707233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20" name="文字版面配置區 18">
            <a:extLst>
              <a:ext uri="{FF2B5EF4-FFF2-40B4-BE49-F238E27FC236}">
                <a16:creationId xmlns:a16="http://schemas.microsoft.com/office/drawing/2014/main" id="{095532FA-0A0C-CF19-D640-F92609A782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3225113"/>
            <a:ext cx="2227344" cy="2707233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8618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26">
            <a:extLst>
              <a:ext uri="{FF2B5EF4-FFF2-40B4-BE49-F238E27FC236}">
                <a16:creationId xmlns:a16="http://schemas.microsoft.com/office/drawing/2014/main" id="{6A67D644-32E7-08DE-4A04-59BC59DA67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23536" y="697867"/>
            <a:ext cx="4344928" cy="5462266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4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736204"/>
          </a:xfrm>
        </p:spPr>
        <p:txBody>
          <a:bodyPr rtlCol="0" anchor="ctr">
            <a:noAutofit/>
          </a:bodyPr>
          <a:lstStyle>
            <a:lvl1pPr algn="ctr">
              <a:defRPr sz="80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母片標題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C21A91CD-FAA1-12A5-36FC-FB6877A5CF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7235" y="5501848"/>
            <a:ext cx="10515600" cy="135615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sz="8000" b="0" spc="500" baseline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母片標題</a:t>
            </a:r>
            <a:endParaRPr lang="zh-TW" altLang="en-US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9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標題 1">
            <a:extLst>
              <a:ext uri="{FF2B5EF4-FFF2-40B4-BE49-F238E27FC236}">
                <a16:creationId xmlns:a16="http://schemas.microsoft.com/office/drawing/2014/main" id="{610349A9-96E5-48EF-811D-326560B8C1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5962964" cy="1335273"/>
          </a:xfrm>
        </p:spPr>
        <p:txBody>
          <a:bodyPr lIns="0" tIns="0" rIns="0" bIns="0" rtlCol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母片標題樣式</a:t>
            </a:r>
          </a:p>
        </p:txBody>
      </p:sp>
      <p:sp>
        <p:nvSpPr>
          <p:cNvPr id="15" name="圖片版面配置區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4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4" name="文字版面配置區 15">
            <a:extLst>
              <a:ext uri="{FF2B5EF4-FFF2-40B4-BE49-F238E27FC236}">
                <a16:creationId xmlns:a16="http://schemas.microsoft.com/office/drawing/2014/main" id="{EB251253-703B-546E-AB34-52E0AE4AA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90571" y="3000733"/>
            <a:ext cx="5763227" cy="2996309"/>
          </a:xfrm>
        </p:spPr>
        <p:txBody>
          <a:bodyPr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61857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與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192137"/>
          </a:xfrm>
        </p:spPr>
        <p:txBody>
          <a:bodyPr lIns="0" tIns="0" rIns="0" bIns="0" rtlCol="0" anchor="t"/>
          <a:lstStyle>
            <a:lvl1pPr algn="ctr">
              <a:defRPr sz="5500">
                <a:solidFill>
                  <a:schemeClr val="accent4"/>
                </a:solidFill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5" name="文字版面配置區 15">
            <a:extLst>
              <a:ext uri="{FF2B5EF4-FFF2-40B4-BE49-F238E27FC236}">
                <a16:creationId xmlns:a16="http://schemas.microsoft.com/office/drawing/2014/main" id="{08E835A2-9A63-E732-F9E2-A4F4914B176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455" y="1834688"/>
            <a:ext cx="5310927" cy="723085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zh-TW" altLang="en-US" noProof="0"/>
              <a:t>母片文字樣式</a:t>
            </a:r>
          </a:p>
        </p:txBody>
      </p:sp>
      <p:sp>
        <p:nvSpPr>
          <p:cNvPr id="27" name="文字版面配置區 15">
            <a:extLst>
              <a:ext uri="{FF2B5EF4-FFF2-40B4-BE49-F238E27FC236}">
                <a16:creationId xmlns:a16="http://schemas.microsoft.com/office/drawing/2014/main" id="{7CA4D69F-DA63-104E-3FB3-1F2D82C3B59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44466" y="1834688"/>
            <a:ext cx="5310927" cy="723085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2400" b="0" i="0" spc="5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zh-TW" altLang="en-US" noProof="0"/>
              <a:t>母片文字樣式</a:t>
            </a:r>
          </a:p>
        </p:txBody>
      </p:sp>
      <p:sp>
        <p:nvSpPr>
          <p:cNvPr id="8" name="文字版面配置區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5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rtlCol="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母片文字</a:t>
            </a:r>
          </a:p>
        </p:txBody>
      </p:sp>
      <p:sp>
        <p:nvSpPr>
          <p:cNvPr id="34" name="文字版面配置區 15">
            <a:extLst>
              <a:ext uri="{FF2B5EF4-FFF2-40B4-BE49-F238E27FC236}">
                <a16:creationId xmlns:a16="http://schemas.microsoft.com/office/drawing/2014/main" id="{CAC50623-C141-FF48-2679-AD0F48D51D1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05526" y="2557773"/>
            <a:ext cx="1772935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rtlCol="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母片文字</a:t>
            </a:r>
          </a:p>
        </p:txBody>
      </p:sp>
      <p:sp>
        <p:nvSpPr>
          <p:cNvPr id="35" name="文字版面配置區 15">
            <a:extLst>
              <a:ext uri="{FF2B5EF4-FFF2-40B4-BE49-F238E27FC236}">
                <a16:creationId xmlns:a16="http://schemas.microsoft.com/office/drawing/2014/main" id="{FAAA39D6-45B2-A7D3-5DC3-C2459FFFC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78310" y="2557773"/>
            <a:ext cx="1769072" cy="425705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lIns="91440" tIns="91440" rIns="91440" bIns="91440" rtlCol="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母片文字</a:t>
            </a:r>
          </a:p>
        </p:txBody>
      </p:sp>
      <p:sp>
        <p:nvSpPr>
          <p:cNvPr id="26" name="文字版面配置區 15">
            <a:extLst>
              <a:ext uri="{FF2B5EF4-FFF2-40B4-BE49-F238E27FC236}">
                <a16:creationId xmlns:a16="http://schemas.microsoft.com/office/drawing/2014/main" id="{08456420-6A32-6316-DB13-BD852A1B7E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44466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rtlCol="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母片文字</a:t>
            </a:r>
          </a:p>
        </p:txBody>
      </p:sp>
      <p:sp>
        <p:nvSpPr>
          <p:cNvPr id="28" name="文字版面配置區 15">
            <a:extLst>
              <a:ext uri="{FF2B5EF4-FFF2-40B4-BE49-F238E27FC236}">
                <a16:creationId xmlns:a16="http://schemas.microsoft.com/office/drawing/2014/main" id="{4006011E-82D1-0E59-8663-132BB94A82A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3537" y="2557773"/>
            <a:ext cx="1772935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rtlCol="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母片文字</a:t>
            </a:r>
          </a:p>
        </p:txBody>
      </p:sp>
      <p:sp>
        <p:nvSpPr>
          <p:cNvPr id="29" name="文字版面配置區 15">
            <a:extLst>
              <a:ext uri="{FF2B5EF4-FFF2-40B4-BE49-F238E27FC236}">
                <a16:creationId xmlns:a16="http://schemas.microsoft.com/office/drawing/2014/main" id="{979E2337-5EFF-E5EE-D81F-00E835015F4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786321" y="2557773"/>
            <a:ext cx="1769072" cy="425705"/>
          </a:xfr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lIns="91440" tIns="91440" rIns="91440" bIns="91440" rtlCol="0" anchor="ctr">
            <a:noAutofit/>
          </a:bodyPr>
          <a:lstStyle>
            <a:lvl1pPr marL="0" indent="0" algn="ctr">
              <a:buNone/>
              <a:defRPr sz="1600" b="0" i="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母片文字</a:t>
            </a:r>
          </a:p>
        </p:txBody>
      </p:sp>
      <p:sp>
        <p:nvSpPr>
          <p:cNvPr id="20" name="文字版面配置區 18">
            <a:extLst>
              <a:ext uri="{FF2B5EF4-FFF2-40B4-BE49-F238E27FC236}">
                <a16:creationId xmlns:a16="http://schemas.microsoft.com/office/drawing/2014/main" id="{BAB66CF5-0D1B-FF68-BB2E-8A5D28F0BC5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6455" y="2983478"/>
            <a:ext cx="1769071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1" name="文字版面配置區 18">
            <a:extLst>
              <a:ext uri="{FF2B5EF4-FFF2-40B4-BE49-F238E27FC236}">
                <a16:creationId xmlns:a16="http://schemas.microsoft.com/office/drawing/2014/main" id="{52E7EFCE-36D7-CF86-2FEF-E3734FE9950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405295" y="2983478"/>
            <a:ext cx="1772935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2" name="文字版面配置區 18">
            <a:extLst>
              <a:ext uri="{FF2B5EF4-FFF2-40B4-BE49-F238E27FC236}">
                <a16:creationId xmlns:a16="http://schemas.microsoft.com/office/drawing/2014/main" id="{6E1DCC08-6799-A1AC-28C2-A872BAF1E55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178463" y="2983478"/>
            <a:ext cx="1768919" cy="2707233"/>
          </a:xfrm>
          <a:ln>
            <a:solidFill>
              <a:schemeClr val="accent4"/>
            </a:solidFill>
          </a:ln>
        </p:spPr>
        <p:txBody>
          <a:bodyPr lIns="182880" tIns="182880" rIns="182880" bIns="18288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4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0" name="文字版面配置區 18">
            <a:extLst>
              <a:ext uri="{FF2B5EF4-FFF2-40B4-BE49-F238E27FC236}">
                <a16:creationId xmlns:a16="http://schemas.microsoft.com/office/drawing/2014/main" id="{CE1BF705-AAB1-D537-2C0D-A795D1D4D17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44466" y="2983478"/>
            <a:ext cx="1769071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1" name="文字版面配置區 18">
            <a:extLst>
              <a:ext uri="{FF2B5EF4-FFF2-40B4-BE49-F238E27FC236}">
                <a16:creationId xmlns:a16="http://schemas.microsoft.com/office/drawing/2014/main" id="{5F504EFC-46D9-97D5-DA53-4D8EB52D134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013306" y="2983478"/>
            <a:ext cx="1772935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2" name="文字版面配置區 18">
            <a:extLst>
              <a:ext uri="{FF2B5EF4-FFF2-40B4-BE49-F238E27FC236}">
                <a16:creationId xmlns:a16="http://schemas.microsoft.com/office/drawing/2014/main" id="{C1231552-C2DF-2460-9DCB-33B1379D750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786474" y="2983478"/>
            <a:ext cx="1768919" cy="2707233"/>
          </a:xfrm>
          <a:ln>
            <a:solidFill>
              <a:schemeClr val="accent1"/>
            </a:solidFill>
          </a:ln>
        </p:spPr>
        <p:txBody>
          <a:bodyPr lIns="182880" tIns="182880" rIns="182880" bIns="18288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17834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rtlCol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26" name="內容版面配置區 2">
            <a:extLst>
              <a:ext uri="{FF2B5EF4-FFF2-40B4-BE49-F238E27FC236}">
                <a16:creationId xmlns:a16="http://schemas.microsoft.com/office/drawing/2014/main" id="{87B17915-F2EE-16C0-9704-09115209610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2064" y="1655064"/>
            <a:ext cx="11164824" cy="4599432"/>
          </a:xfrm>
        </p:spPr>
        <p:txBody>
          <a:bodyPr rtlCol="0"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 rtl="0"/>
            <a:r>
              <a:rPr lang="zh-TW" altLang="en-US" noProof="0"/>
              <a:t>智慧圖形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40999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與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rtlCol="0" anchor="t"/>
          <a:lstStyle>
            <a:lvl1pPr algn="ctr">
              <a:defRPr sz="5500">
                <a:solidFill>
                  <a:schemeClr val="accent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9" name="文字版面配置區 7">
            <a:extLst>
              <a:ext uri="{FF2B5EF4-FFF2-40B4-BE49-F238E27FC236}">
                <a16:creationId xmlns:a16="http://schemas.microsoft.com/office/drawing/2014/main" id="{2A29FDC8-4969-6E0E-767C-B89B08D3D23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336" y="2195513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en-US" altLang="zh-TW" noProof="0"/>
              <a:t>0</a:t>
            </a:r>
          </a:p>
        </p:txBody>
      </p:sp>
      <p:sp>
        <p:nvSpPr>
          <p:cNvPr id="7" name="文字版面配置區 18">
            <a:extLst>
              <a:ext uri="{FF2B5EF4-FFF2-40B4-BE49-F238E27FC236}">
                <a16:creationId xmlns:a16="http://schemas.microsoft.com/office/drawing/2014/main" id="{894B01F3-B2C5-4835-6EF9-A40EB06012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55389" y="2703910"/>
            <a:ext cx="1743062" cy="2503346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0" name="文字版面配置區 7">
            <a:extLst>
              <a:ext uri="{FF2B5EF4-FFF2-40B4-BE49-F238E27FC236}">
                <a16:creationId xmlns:a16="http://schemas.microsoft.com/office/drawing/2014/main" id="{49CE4F9C-B2A8-323E-0B57-0B8FD348FA1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511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en-US" altLang="zh-TW" noProof="0"/>
              <a:t>0</a:t>
            </a:r>
          </a:p>
        </p:txBody>
      </p:sp>
      <p:sp>
        <p:nvSpPr>
          <p:cNvPr id="13" name="文字版面配置區 18">
            <a:extLst>
              <a:ext uri="{FF2B5EF4-FFF2-40B4-BE49-F238E27FC236}">
                <a16:creationId xmlns:a16="http://schemas.microsoft.com/office/drawing/2014/main" id="{E9B260B4-D1BC-635B-D388-0E1A9CF2C18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830848" y="2703910"/>
            <a:ext cx="1743062" cy="2503346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1" name="文字版面配置區 7">
            <a:extLst>
              <a:ext uri="{FF2B5EF4-FFF2-40B4-BE49-F238E27FC236}">
                <a16:creationId xmlns:a16="http://schemas.microsoft.com/office/drawing/2014/main" id="{6470C7D3-57C4-0583-E642-C6AB3565F6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2902" y="2196231"/>
            <a:ext cx="1743075" cy="3884612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30000" b="0" spc="500" dirty="0">
                <a:ln>
                  <a:noFill/>
                </a:ln>
                <a:solidFill>
                  <a:srgbClr val="C16548">
                    <a:alpha val="10000"/>
                  </a:srgb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pPr marL="914400" lvl="0" indent="-1143000" rtl="0">
              <a:spcBef>
                <a:spcPct val="0"/>
              </a:spcBef>
            </a:pPr>
            <a:r>
              <a:rPr lang="en-US" altLang="zh-TW" noProof="0"/>
              <a:t>0</a:t>
            </a:r>
          </a:p>
        </p:txBody>
      </p:sp>
      <p:sp>
        <p:nvSpPr>
          <p:cNvPr id="15" name="文字版面配置區 18">
            <a:extLst>
              <a:ext uri="{FF2B5EF4-FFF2-40B4-BE49-F238E27FC236}">
                <a16:creationId xmlns:a16="http://schemas.microsoft.com/office/drawing/2014/main" id="{6978037E-3163-1C71-E997-16A7D05981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810474" y="2703910"/>
            <a:ext cx="1743062" cy="2503346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7076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字版面配置區 3">
            <a:extLst>
              <a:ext uri="{FF2B5EF4-FFF2-40B4-BE49-F238E27FC236}">
                <a16:creationId xmlns:a16="http://schemas.microsoft.com/office/drawing/2014/main" id="{CB59D176-085F-4D98-7EAC-587AAF3883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-496452"/>
            <a:ext cx="12192000" cy="992899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母片標題</a:t>
            </a:r>
          </a:p>
        </p:txBody>
      </p:sp>
      <p:sp>
        <p:nvSpPr>
          <p:cNvPr id="40" name="文字版面配置區 3">
            <a:extLst>
              <a:ext uri="{FF2B5EF4-FFF2-40B4-BE49-F238E27FC236}">
                <a16:creationId xmlns:a16="http://schemas.microsoft.com/office/drawing/2014/main" id="{35534993-EB28-20A0-649F-874B18BF08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42270"/>
            <a:ext cx="12192000" cy="992899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母片標題</a:t>
            </a:r>
          </a:p>
        </p:txBody>
      </p:sp>
      <p:sp>
        <p:nvSpPr>
          <p:cNvPr id="45" name="文字版面配置區 3">
            <a:extLst>
              <a:ext uri="{FF2B5EF4-FFF2-40B4-BE49-F238E27FC236}">
                <a16:creationId xmlns:a16="http://schemas.microsoft.com/office/drawing/2014/main" id="{C343DEA5-C42E-2B07-9B4F-07365994AE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1780992"/>
            <a:ext cx="12192000" cy="992899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母片標題</a:t>
            </a:r>
          </a:p>
        </p:txBody>
      </p:sp>
      <p:sp>
        <p:nvSpPr>
          <p:cNvPr id="46" name="文字版面配置區 3">
            <a:extLst>
              <a:ext uri="{FF2B5EF4-FFF2-40B4-BE49-F238E27FC236}">
                <a16:creationId xmlns:a16="http://schemas.microsoft.com/office/drawing/2014/main" id="{575FF4D9-84C9-19DB-9830-B3FFCD6F52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0" y="2919714"/>
            <a:ext cx="12192000" cy="992899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母片標題</a:t>
            </a:r>
          </a:p>
        </p:txBody>
      </p:sp>
      <p:sp>
        <p:nvSpPr>
          <p:cNvPr id="42" name="文字版面配置區 3">
            <a:extLst>
              <a:ext uri="{FF2B5EF4-FFF2-40B4-BE49-F238E27FC236}">
                <a16:creationId xmlns:a16="http://schemas.microsoft.com/office/drawing/2014/main" id="{C6101C39-E513-BB9E-A945-D86FEDC7EC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0" y="5197158"/>
            <a:ext cx="12192000" cy="992899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母片標題</a:t>
            </a:r>
          </a:p>
        </p:txBody>
      </p:sp>
      <p:sp>
        <p:nvSpPr>
          <p:cNvPr id="41" name="文字版面配置區 3">
            <a:extLst>
              <a:ext uri="{FF2B5EF4-FFF2-40B4-BE49-F238E27FC236}">
                <a16:creationId xmlns:a16="http://schemas.microsoft.com/office/drawing/2014/main" id="{992DB54E-3FB3-A115-7CFE-06CB747E0F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335880"/>
            <a:ext cx="12192000" cy="992899"/>
          </a:xfrm>
        </p:spPr>
        <p:txBody>
          <a:bodyPr lIns="0" tIns="0" rIns="0" bIns="0" rtlCol="0">
            <a:noAutofit/>
          </a:bodyPr>
          <a:lstStyle>
            <a:lvl1pPr marL="0" indent="0" algn="ctr">
              <a:buNone/>
              <a:defRPr sz="85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母片標題</a:t>
            </a:r>
          </a:p>
        </p:txBody>
      </p:sp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878CB881-B4B6-F9E5-06B7-B87D6D5300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31067" y="-2"/>
            <a:ext cx="5329866" cy="6858002"/>
          </a:xfrm>
          <a:custGeom>
            <a:avLst/>
            <a:gdLst>
              <a:gd name="connsiteX0" fmla="*/ 1468671 w 5329866"/>
              <a:gd name="connsiteY0" fmla="*/ 0 h 6858002"/>
              <a:gd name="connsiteX1" fmla="*/ 3861196 w 5329866"/>
              <a:gd name="connsiteY1" fmla="*/ 0 h 6858002"/>
              <a:gd name="connsiteX2" fmla="*/ 3935199 w 5329866"/>
              <a:gd name="connsiteY2" fmla="*/ 35649 h 6858002"/>
              <a:gd name="connsiteX3" fmla="*/ 5329866 w 5329866"/>
              <a:gd name="connsiteY3" fmla="*/ 2378940 h 6858002"/>
              <a:gd name="connsiteX4" fmla="*/ 5326197 w 5329866"/>
              <a:gd name="connsiteY4" fmla="*/ 2451598 h 6858002"/>
              <a:gd name="connsiteX5" fmla="*/ 5329866 w 5329866"/>
              <a:gd name="connsiteY5" fmla="*/ 2451598 h 6858002"/>
              <a:gd name="connsiteX6" fmla="*/ 5329866 w 5329866"/>
              <a:gd name="connsiteY6" fmla="*/ 4479063 h 6858002"/>
              <a:gd name="connsiteX7" fmla="*/ 5329866 w 5329866"/>
              <a:gd name="connsiteY7" fmla="*/ 4613615 h 6858002"/>
              <a:gd name="connsiteX8" fmla="*/ 5323072 w 5329866"/>
              <a:gd name="connsiteY8" fmla="*/ 4613615 h 6858002"/>
              <a:gd name="connsiteX9" fmla="*/ 5316108 w 5329866"/>
              <a:gd name="connsiteY9" fmla="*/ 4751537 h 6858002"/>
              <a:gd name="connsiteX10" fmla="*/ 4074162 w 5329866"/>
              <a:gd name="connsiteY10" fmla="*/ 6741332 h 6858002"/>
              <a:gd name="connsiteX11" fmla="*/ 3866899 w 5329866"/>
              <a:gd name="connsiteY11" fmla="*/ 6858002 h 6858002"/>
              <a:gd name="connsiteX12" fmla="*/ 1462968 w 5329866"/>
              <a:gd name="connsiteY12" fmla="*/ 6858002 h 6858002"/>
              <a:gd name="connsiteX13" fmla="*/ 1255705 w 5329866"/>
              <a:gd name="connsiteY13" fmla="*/ 6741332 h 6858002"/>
              <a:gd name="connsiteX14" fmla="*/ 13759 w 5329866"/>
              <a:gd name="connsiteY14" fmla="*/ 4751537 h 6858002"/>
              <a:gd name="connsiteX15" fmla="*/ 6794 w 5329866"/>
              <a:gd name="connsiteY15" fmla="*/ 4613615 h 6858002"/>
              <a:gd name="connsiteX16" fmla="*/ 2 w 5329866"/>
              <a:gd name="connsiteY16" fmla="*/ 4613615 h 6858002"/>
              <a:gd name="connsiteX17" fmla="*/ 2 w 5329866"/>
              <a:gd name="connsiteY17" fmla="*/ 4479105 h 6858002"/>
              <a:gd name="connsiteX18" fmla="*/ 0 w 5329866"/>
              <a:gd name="connsiteY18" fmla="*/ 4479063 h 6858002"/>
              <a:gd name="connsiteX19" fmla="*/ 2 w 5329866"/>
              <a:gd name="connsiteY19" fmla="*/ 4479021 h 6858002"/>
              <a:gd name="connsiteX20" fmla="*/ 2 w 5329866"/>
              <a:gd name="connsiteY20" fmla="*/ 2451598 h 6858002"/>
              <a:gd name="connsiteX21" fmla="*/ 3670 w 5329866"/>
              <a:gd name="connsiteY21" fmla="*/ 2451598 h 6858002"/>
              <a:gd name="connsiteX22" fmla="*/ 0 w 5329866"/>
              <a:gd name="connsiteY22" fmla="*/ 2378940 h 6858002"/>
              <a:gd name="connsiteX23" fmla="*/ 1394668 w 5329866"/>
              <a:gd name="connsiteY23" fmla="*/ 35649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8002">
                <a:moveTo>
                  <a:pt x="1468671" y="0"/>
                </a:moveTo>
                <a:lnTo>
                  <a:pt x="3861196" y="0"/>
                </a:lnTo>
                <a:lnTo>
                  <a:pt x="3935199" y="35649"/>
                </a:lnTo>
                <a:cubicBezTo>
                  <a:pt x="4765925" y="486927"/>
                  <a:pt x="5329866" y="1367076"/>
                  <a:pt x="5329866" y="2378940"/>
                </a:cubicBezTo>
                <a:lnTo>
                  <a:pt x="5326197" y="2451598"/>
                </a:lnTo>
                <a:lnTo>
                  <a:pt x="5329866" y="2451598"/>
                </a:lnTo>
                <a:lnTo>
                  <a:pt x="5329866" y="4479063"/>
                </a:lnTo>
                <a:lnTo>
                  <a:pt x="5329866" y="4613615"/>
                </a:lnTo>
                <a:lnTo>
                  <a:pt x="5323072" y="4613615"/>
                </a:lnTo>
                <a:lnTo>
                  <a:pt x="5316108" y="4751537"/>
                </a:lnTo>
                <a:cubicBezTo>
                  <a:pt x="5230813" y="5591419"/>
                  <a:pt x="4755512" y="6316003"/>
                  <a:pt x="4074162" y="6741332"/>
                </a:cubicBezTo>
                <a:lnTo>
                  <a:pt x="3866899" y="6858002"/>
                </a:lnTo>
                <a:lnTo>
                  <a:pt x="1462968" y="6858002"/>
                </a:lnTo>
                <a:lnTo>
                  <a:pt x="1255705" y="6741332"/>
                </a:lnTo>
                <a:cubicBezTo>
                  <a:pt x="574355" y="6316003"/>
                  <a:pt x="99054" y="5591419"/>
                  <a:pt x="13759" y="4751537"/>
                </a:cubicBezTo>
                <a:lnTo>
                  <a:pt x="6794" y="4613615"/>
                </a:lnTo>
                <a:lnTo>
                  <a:pt x="2" y="4613615"/>
                </a:lnTo>
                <a:lnTo>
                  <a:pt x="2" y="4479105"/>
                </a:lnTo>
                <a:lnTo>
                  <a:pt x="0" y="4479063"/>
                </a:lnTo>
                <a:lnTo>
                  <a:pt x="2" y="4479021"/>
                </a:lnTo>
                <a:lnTo>
                  <a:pt x="2" y="2451598"/>
                </a:lnTo>
                <a:lnTo>
                  <a:pt x="3670" y="2451598"/>
                </a:lnTo>
                <a:lnTo>
                  <a:pt x="0" y="2378940"/>
                </a:lnTo>
                <a:cubicBezTo>
                  <a:pt x="0" y="1367076"/>
                  <a:pt x="563941" y="486927"/>
                  <a:pt x="1394668" y="35649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4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4" name="標題 2">
            <a:extLst>
              <a:ext uri="{FF2B5EF4-FFF2-40B4-BE49-F238E27FC236}">
                <a16:creationId xmlns:a16="http://schemas.microsoft.com/office/drawing/2014/main" id="{B731088F-47E0-33BA-856D-6E68D4A69A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4054639"/>
            <a:ext cx="12192000" cy="996696"/>
          </a:xfrm>
        </p:spPr>
        <p:txBody>
          <a:bodyPr vert="horz" lIns="0" tIns="0" rIns="0" bIns="0" rtlCol="0" anchor="t">
            <a:noAutofit/>
          </a:bodyPr>
          <a:lstStyle>
            <a:lvl1pPr algn="ctr">
              <a:defRPr lang="en-US" sz="8500" b="0" i="0" spc="1000" dirty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algn="ctr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母片標題</a:t>
            </a:r>
          </a:p>
        </p:txBody>
      </p:sp>
    </p:spTree>
    <p:extLst>
      <p:ext uri="{BB962C8B-B14F-4D97-AF65-F5344CB8AC3E}">
        <p14:creationId xmlns:p14="http://schemas.microsoft.com/office/powerpoint/2010/main" val="188285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與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572" y="1188358"/>
            <a:ext cx="6099858" cy="1335273"/>
          </a:xfrm>
        </p:spPr>
        <p:txBody>
          <a:bodyPr lIns="0" tIns="0" rIns="0" bIns="0" rtlCol="0" anchor="t">
            <a:noAutofit/>
          </a:bodyPr>
          <a:lstStyle>
            <a:lvl1pPr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pPr rtl="0"/>
            <a:r>
              <a:rPr lang="zh-TW" altLang="en-US" noProof="0"/>
              <a:t>母片標題樣式</a:t>
            </a:r>
          </a:p>
        </p:txBody>
      </p:sp>
      <p:sp>
        <p:nvSpPr>
          <p:cNvPr id="17" name="圖片版面配置區 16">
            <a:extLst>
              <a:ext uri="{FF2B5EF4-FFF2-40B4-BE49-F238E27FC236}">
                <a16:creationId xmlns:a16="http://schemas.microsoft.com/office/drawing/2014/main" id="{67897E40-8096-E77D-E61A-A0AAC64EA41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38481" y="581371"/>
            <a:ext cx="3884344" cy="5415673"/>
          </a:xfrm>
          <a:custGeom>
            <a:avLst/>
            <a:gdLst>
              <a:gd name="connsiteX0" fmla="*/ 1942453 w 3884344"/>
              <a:gd name="connsiteY0" fmla="*/ 0 h 5415673"/>
              <a:gd name="connsiteX1" fmla="*/ 3874878 w 3884344"/>
              <a:gd name="connsiteY1" fmla="*/ 1743849 h 5415673"/>
              <a:gd name="connsiteX2" fmla="*/ 3884344 w 3884344"/>
              <a:gd name="connsiteY2" fmla="*/ 1931324 h 5415673"/>
              <a:gd name="connsiteX3" fmla="*/ 3884344 w 3884344"/>
              <a:gd name="connsiteY3" fmla="*/ 1953581 h 5415673"/>
              <a:gd name="connsiteX4" fmla="*/ 3882232 w 3884344"/>
              <a:gd name="connsiteY4" fmla="*/ 1995413 h 5415673"/>
              <a:gd name="connsiteX5" fmla="*/ 3884344 w 3884344"/>
              <a:gd name="connsiteY5" fmla="*/ 1995413 h 5415673"/>
              <a:gd name="connsiteX6" fmla="*/ 3884344 w 3884344"/>
              <a:gd name="connsiteY6" fmla="*/ 3571294 h 5415673"/>
              <a:gd name="connsiteX7" fmla="*/ 3879954 w 3884344"/>
              <a:gd name="connsiteY7" fmla="*/ 3571294 h 5415673"/>
              <a:gd name="connsiteX8" fmla="*/ 3874878 w 3884344"/>
              <a:gd name="connsiteY8" fmla="*/ 3671825 h 5415673"/>
              <a:gd name="connsiteX9" fmla="*/ 1942453 w 3884344"/>
              <a:gd name="connsiteY9" fmla="*/ 5415673 h 5415673"/>
              <a:gd name="connsiteX10" fmla="*/ 10029 w 3884344"/>
              <a:gd name="connsiteY10" fmla="*/ 3671825 h 5415673"/>
              <a:gd name="connsiteX11" fmla="*/ 4952 w 3884344"/>
              <a:gd name="connsiteY11" fmla="*/ 3571294 h 5415673"/>
              <a:gd name="connsiteX12" fmla="*/ 2 w 3884344"/>
              <a:gd name="connsiteY12" fmla="*/ 3571294 h 5415673"/>
              <a:gd name="connsiteX13" fmla="*/ 2 w 3884344"/>
              <a:gd name="connsiteY13" fmla="*/ 3473251 h 5415673"/>
              <a:gd name="connsiteX14" fmla="*/ 0 w 3884344"/>
              <a:gd name="connsiteY14" fmla="*/ 3473220 h 5415673"/>
              <a:gd name="connsiteX15" fmla="*/ 2 w 3884344"/>
              <a:gd name="connsiteY15" fmla="*/ 3473189 h 5415673"/>
              <a:gd name="connsiteX16" fmla="*/ 2 w 3884344"/>
              <a:gd name="connsiteY16" fmla="*/ 1995413 h 5415673"/>
              <a:gd name="connsiteX17" fmla="*/ 2675 w 3884344"/>
              <a:gd name="connsiteY17" fmla="*/ 1995413 h 5415673"/>
              <a:gd name="connsiteX18" fmla="*/ 0 w 3884344"/>
              <a:gd name="connsiteY18" fmla="*/ 1942453 h 5415673"/>
              <a:gd name="connsiteX19" fmla="*/ 1942453 w 3884344"/>
              <a:gd name="connsiteY19" fmla="*/ 0 h 5415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884344" h="5415673">
                <a:moveTo>
                  <a:pt x="1942453" y="0"/>
                </a:moveTo>
                <a:cubicBezTo>
                  <a:pt x="2948191" y="0"/>
                  <a:pt x="3775405" y="764355"/>
                  <a:pt x="3874878" y="1743849"/>
                </a:cubicBezTo>
                <a:lnTo>
                  <a:pt x="3884344" y="1931324"/>
                </a:lnTo>
                <a:lnTo>
                  <a:pt x="3884344" y="1953581"/>
                </a:lnTo>
                <a:lnTo>
                  <a:pt x="3882232" y="1995413"/>
                </a:lnTo>
                <a:lnTo>
                  <a:pt x="3884344" y="1995413"/>
                </a:lnTo>
                <a:lnTo>
                  <a:pt x="3884344" y="3571294"/>
                </a:lnTo>
                <a:lnTo>
                  <a:pt x="3879954" y="3571294"/>
                </a:lnTo>
                <a:lnTo>
                  <a:pt x="3874878" y="3671825"/>
                </a:lnTo>
                <a:cubicBezTo>
                  <a:pt x="3775404" y="4651319"/>
                  <a:pt x="2948192" y="5415673"/>
                  <a:pt x="1942453" y="5415673"/>
                </a:cubicBezTo>
                <a:cubicBezTo>
                  <a:pt x="936714" y="5415673"/>
                  <a:pt x="109502" y="4651319"/>
                  <a:pt x="10029" y="3671825"/>
                </a:cubicBezTo>
                <a:lnTo>
                  <a:pt x="4952" y="3571294"/>
                </a:lnTo>
                <a:lnTo>
                  <a:pt x="2" y="3571294"/>
                </a:lnTo>
                <a:lnTo>
                  <a:pt x="2" y="3473251"/>
                </a:lnTo>
                <a:lnTo>
                  <a:pt x="0" y="3473220"/>
                </a:lnTo>
                <a:lnTo>
                  <a:pt x="2" y="3473189"/>
                </a:lnTo>
                <a:lnTo>
                  <a:pt x="2" y="1995413"/>
                </a:lnTo>
                <a:lnTo>
                  <a:pt x="2675" y="1995413"/>
                </a:lnTo>
                <a:lnTo>
                  <a:pt x="0" y="1942453"/>
                </a:lnTo>
                <a:cubicBezTo>
                  <a:pt x="0" y="869666"/>
                  <a:pt x="869666" y="0"/>
                  <a:pt x="1942453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b="0"/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8" name="文字版面配置區 15">
            <a:extLst>
              <a:ext uri="{FF2B5EF4-FFF2-40B4-BE49-F238E27FC236}">
                <a16:creationId xmlns:a16="http://schemas.microsoft.com/office/drawing/2014/main" id="{6414DEE6-A86D-4699-E6EF-CE6745F5D4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90571" y="3000733"/>
            <a:ext cx="2916821" cy="428268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8" name="文字版面配置區 15">
            <a:extLst>
              <a:ext uri="{FF2B5EF4-FFF2-40B4-BE49-F238E27FC236}">
                <a16:creationId xmlns:a16="http://schemas.microsoft.com/office/drawing/2014/main" id="{C68EE5CA-4729-4FEA-F1BC-F976BEEBC48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773609" y="3000733"/>
            <a:ext cx="2916821" cy="428268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id="{CA3BC7A6-D12C-160A-CB5C-E5560525089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90571" y="3530279"/>
            <a:ext cx="2916821" cy="2466764"/>
          </a:xfrm>
        </p:spPr>
        <p:txBody>
          <a:bodyPr lIns="0" tIns="0" rIns="0" bIns="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72DF7BAB-7F6A-3D7B-F8A9-D7C4BD1D3B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773609" y="3530279"/>
            <a:ext cx="2916821" cy="2466764"/>
          </a:xfrm>
        </p:spPr>
        <p:txBody>
          <a:bodyPr lIns="0" tIns="0" rIns="0" bIns="0" rtlCol="0">
            <a:noAutofit/>
          </a:bodyPr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2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9772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736C06-E9E1-16BE-139D-B69DCBBD2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rtlCol="0" anchor="t"/>
          <a:lstStyle>
            <a:lvl1pPr algn="ctr">
              <a:defRPr sz="5500">
                <a:solidFill>
                  <a:schemeClr val="accent4"/>
                </a:solidFill>
                <a:latin typeface="+mj-lt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1916A793-0543-8519-4E06-4D8E6A4E8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837944"/>
            <a:ext cx="11353800" cy="3019086"/>
          </a:xfrm>
        </p:spPr>
        <p:txBody>
          <a:bodyPr rtlCol="0">
            <a:noAutofit/>
          </a:bodyPr>
          <a:lstStyle>
            <a:lvl1pPr>
              <a:defRPr sz="3200"/>
            </a:lvl1pPr>
            <a:lvl2pPr marL="457200" indent="0" algn="l">
              <a:buNone/>
              <a:defRPr sz="1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1" rtl="0"/>
            <a:r>
              <a:rPr lang="zh-TW" altLang="en-US" noProof="0"/>
              <a:t>智慧圖形</a:t>
            </a:r>
          </a:p>
        </p:txBody>
      </p:sp>
      <p:sp>
        <p:nvSpPr>
          <p:cNvPr id="8" name="文字版面配置區 15">
            <a:extLst>
              <a:ext uri="{FF2B5EF4-FFF2-40B4-BE49-F238E27FC236}">
                <a16:creationId xmlns:a16="http://schemas.microsoft.com/office/drawing/2014/main" id="{2FA2A82A-5FFB-EAB7-624A-E00F9EA6DE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8459" y="5232509"/>
            <a:ext cx="2188729" cy="493151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編輯</a:t>
            </a:r>
          </a:p>
        </p:txBody>
      </p:sp>
      <p:sp>
        <p:nvSpPr>
          <p:cNvPr id="14" name="文字版面配置區 15">
            <a:extLst>
              <a:ext uri="{FF2B5EF4-FFF2-40B4-BE49-F238E27FC236}">
                <a16:creationId xmlns:a16="http://schemas.microsoft.com/office/drawing/2014/main" id="{1DD59288-2C4C-BA2F-F3C9-CEEC7BBAE5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47242" y="5232509"/>
            <a:ext cx="2188728" cy="493151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編輯</a:t>
            </a:r>
          </a:p>
        </p:txBody>
      </p:sp>
      <p:sp>
        <p:nvSpPr>
          <p:cNvPr id="12" name="文字版面配置區 15">
            <a:extLst>
              <a:ext uri="{FF2B5EF4-FFF2-40B4-BE49-F238E27FC236}">
                <a16:creationId xmlns:a16="http://schemas.microsoft.com/office/drawing/2014/main" id="{A221A6B3-B644-8124-2E99-CBB5C1C0B2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6023" y="5232509"/>
            <a:ext cx="2188729" cy="493151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編輯</a:t>
            </a:r>
          </a:p>
        </p:txBody>
      </p:sp>
      <p:sp>
        <p:nvSpPr>
          <p:cNvPr id="10" name="文字版面配置區 15">
            <a:extLst>
              <a:ext uri="{FF2B5EF4-FFF2-40B4-BE49-F238E27FC236}">
                <a16:creationId xmlns:a16="http://schemas.microsoft.com/office/drawing/2014/main" id="{282FC433-EED8-C305-2AE2-E3BC9D42E5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64806" y="5232509"/>
            <a:ext cx="2188729" cy="493151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3600" b="1" i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編輯</a:t>
            </a:r>
          </a:p>
        </p:txBody>
      </p:sp>
      <p:sp>
        <p:nvSpPr>
          <p:cNvPr id="9" name="文字版面配置區 18">
            <a:extLst>
              <a:ext uri="{FF2B5EF4-FFF2-40B4-BE49-F238E27FC236}">
                <a16:creationId xmlns:a16="http://schemas.microsoft.com/office/drawing/2014/main" id="{0824A580-B433-CC76-2FDC-C607FC5ECF8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459" y="5742851"/>
            <a:ext cx="2188729" cy="369332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5" name="文字版面配置區 18">
            <a:extLst>
              <a:ext uri="{FF2B5EF4-FFF2-40B4-BE49-F238E27FC236}">
                <a16:creationId xmlns:a16="http://schemas.microsoft.com/office/drawing/2014/main" id="{479803CA-9514-7183-8AC8-13CC5B8406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547241" y="5742851"/>
            <a:ext cx="2188729" cy="369332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3" name="文字版面配置區 18">
            <a:extLst>
              <a:ext uri="{FF2B5EF4-FFF2-40B4-BE49-F238E27FC236}">
                <a16:creationId xmlns:a16="http://schemas.microsoft.com/office/drawing/2014/main" id="{861F1384-35C1-15D1-9228-D96AC95355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456023" y="5742851"/>
            <a:ext cx="2188729" cy="369332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1" name="文字版面配置區 18">
            <a:extLst>
              <a:ext uri="{FF2B5EF4-FFF2-40B4-BE49-F238E27FC236}">
                <a16:creationId xmlns:a16="http://schemas.microsoft.com/office/drawing/2014/main" id="{38B1D216-8DC7-A8D4-4857-4C7529D982E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64806" y="5742851"/>
            <a:ext cx="2188729" cy="369332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400" b="0" i="0" spc="50" baseline="0">
                <a:solidFill>
                  <a:srgbClr val="C16548"/>
                </a:solidFill>
                <a:latin typeface="+mn-lt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84635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與內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26">
            <a:extLst>
              <a:ext uri="{FF2B5EF4-FFF2-40B4-BE49-F238E27FC236}">
                <a16:creationId xmlns:a16="http://schemas.microsoft.com/office/drawing/2014/main" id="{E0689DF6-C6F5-534C-0D45-ED59D00312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60958"/>
            <a:ext cx="4085468" cy="5136084"/>
          </a:xfrm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48A60E5-D102-7326-D77E-C6DF8BDDA7D6}"/>
              </a:ext>
            </a:extLst>
          </p:cNvPr>
          <p:cNvSpPr txBox="1"/>
          <p:nvPr userDrawn="1"/>
        </p:nvSpPr>
        <p:spPr>
          <a:xfrm>
            <a:off x="6598508" y="60795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2D67076B-6CF0-B20E-9689-27FA1127A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8851" y="0"/>
            <a:ext cx="8160152" cy="6858000"/>
          </a:xfrm>
        </p:spPr>
        <p:txBody>
          <a:bodyPr rtlCol="0" anchor="ctr">
            <a:noAutofit/>
          </a:bodyPr>
          <a:lstStyle>
            <a:lvl1pPr algn="l">
              <a:defRPr sz="80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  <a:br>
              <a:rPr lang="zh-TW" altLang="en-US" noProof="0"/>
            </a:br>
            <a:r>
              <a:rPr lang="zh-TW" altLang="en-US" noProof="0"/>
              <a:t>母片標題</a:t>
            </a:r>
          </a:p>
        </p:txBody>
      </p:sp>
    </p:spTree>
    <p:extLst>
      <p:ext uri="{BB962C8B-B14F-4D97-AF65-F5344CB8AC3E}">
        <p14:creationId xmlns:p14="http://schemas.microsoft.com/office/powerpoint/2010/main" val="2353092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與內容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標題 1">
            <a:extLst>
              <a:ext uri="{FF2B5EF4-FFF2-40B4-BE49-F238E27FC236}">
                <a16:creationId xmlns:a16="http://schemas.microsoft.com/office/drawing/2014/main" id="{F986A58D-6106-E01B-0BDC-2F992AD2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915076" cy="1553680"/>
          </a:xfrm>
        </p:spPr>
        <p:txBody>
          <a:bodyPr lIns="0" tIns="0" rIns="0" bIns="0" rtlCol="0" anchor="t"/>
          <a:lstStyle>
            <a:lvl1pPr>
              <a:defRPr sz="5500">
                <a:solidFill>
                  <a:schemeClr val="accent4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15" name="圖片版面配置區 5">
            <a:extLst>
              <a:ext uri="{FF2B5EF4-FFF2-40B4-BE49-F238E27FC236}">
                <a16:creationId xmlns:a16="http://schemas.microsoft.com/office/drawing/2014/main" id="{3F266306-412A-D7DE-40EF-45BBA13E556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38460" y="2539313"/>
            <a:ext cx="685800" cy="6858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2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3" name="圖片版面配置區 5">
            <a:extLst>
              <a:ext uri="{FF2B5EF4-FFF2-40B4-BE49-F238E27FC236}">
                <a16:creationId xmlns:a16="http://schemas.microsoft.com/office/drawing/2014/main" id="{28BF9A91-4021-72CF-EEBD-43B8B2F764A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534372" y="2539313"/>
            <a:ext cx="685800" cy="6858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2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0" name="圖片版面配置區 5">
            <a:extLst>
              <a:ext uri="{FF2B5EF4-FFF2-40B4-BE49-F238E27FC236}">
                <a16:creationId xmlns:a16="http://schemas.microsoft.com/office/drawing/2014/main" id="{5D88CB52-BC08-9751-260B-B531030DCAB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430282" y="2539313"/>
            <a:ext cx="685800" cy="6858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2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1" name="圖片版面配置區 5">
            <a:extLst>
              <a:ext uri="{FF2B5EF4-FFF2-40B4-BE49-F238E27FC236}">
                <a16:creationId xmlns:a16="http://schemas.microsoft.com/office/drawing/2014/main" id="{06E6C850-58C9-7074-08C7-7D24B9A951F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26190" y="2539313"/>
            <a:ext cx="685800" cy="68580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2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8" name="文字版面配置區 15">
            <a:extLst>
              <a:ext uri="{FF2B5EF4-FFF2-40B4-BE49-F238E27FC236}">
                <a16:creationId xmlns:a16="http://schemas.microsoft.com/office/drawing/2014/main" id="{CC404B5F-F158-CEF8-E5AF-9B7601510F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2" y="3397603"/>
            <a:ext cx="2227344" cy="430688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2" name="文字版面配置區 15">
            <a:extLst>
              <a:ext uri="{FF2B5EF4-FFF2-40B4-BE49-F238E27FC236}">
                <a16:creationId xmlns:a16="http://schemas.microsoft.com/office/drawing/2014/main" id="{0A395A78-D15C-3B71-AC48-52F422FF299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534372" y="3397603"/>
            <a:ext cx="2227344" cy="430688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id="{C26292D0-5ED9-B06E-0FEC-5ECF9B61DA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30282" y="3397603"/>
            <a:ext cx="2227344" cy="430688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id="{7025E22B-8EFC-3B41-7DF2-F2F0FBBFC2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26192" y="3397603"/>
            <a:ext cx="2227344" cy="430688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1" i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8" name="文字版面配置區 18">
            <a:extLst>
              <a:ext uri="{FF2B5EF4-FFF2-40B4-BE49-F238E27FC236}">
                <a16:creationId xmlns:a16="http://schemas.microsoft.com/office/drawing/2014/main" id="{459D7743-7A8F-C73A-B9D5-49190ED512A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38462" y="4000780"/>
            <a:ext cx="2227344" cy="2078744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7" name="文字版面配置區 18">
            <a:extLst>
              <a:ext uri="{FF2B5EF4-FFF2-40B4-BE49-F238E27FC236}">
                <a16:creationId xmlns:a16="http://schemas.microsoft.com/office/drawing/2014/main" id="{D4BD1280-EFE5-3F5B-2E53-29FC62D2218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534372" y="4000780"/>
            <a:ext cx="2227344" cy="2078744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6" name="文字版面配置區 18">
            <a:extLst>
              <a:ext uri="{FF2B5EF4-FFF2-40B4-BE49-F238E27FC236}">
                <a16:creationId xmlns:a16="http://schemas.microsoft.com/office/drawing/2014/main" id="{D7323A54-CEF7-D9AE-B43D-CCF5F95273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0282" y="4000780"/>
            <a:ext cx="2227344" cy="2078744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5" name="文字版面配置區 18">
            <a:extLst>
              <a:ext uri="{FF2B5EF4-FFF2-40B4-BE49-F238E27FC236}">
                <a16:creationId xmlns:a16="http://schemas.microsoft.com/office/drawing/2014/main" id="{C50A54A3-4CD3-53F4-3FFE-F664FBFCB1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1" y="4000780"/>
            <a:ext cx="2227344" cy="2078744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 b="0" i="0" spc="50" baseline="0">
                <a:solidFill>
                  <a:srgbClr val="C1654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C560A5-5844-81D4-98B4-29211FD2EA1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DFB1A8-4CF1-35AB-0707-AEAF88714AC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70664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字版面配置區 3">
            <a:extLst>
              <a:ext uri="{FF2B5EF4-FFF2-40B4-BE49-F238E27FC236}">
                <a16:creationId xmlns:a16="http://schemas.microsoft.com/office/drawing/2014/main" id="{75B86244-CE85-A100-2FAE-57F9E99595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681" y="4554640"/>
            <a:ext cx="7156551" cy="99289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標題</a:t>
            </a:r>
          </a:p>
        </p:txBody>
      </p:sp>
      <p:sp>
        <p:nvSpPr>
          <p:cNvPr id="9" name="文字版面配置區 3">
            <a:extLst>
              <a:ext uri="{FF2B5EF4-FFF2-40B4-BE49-F238E27FC236}">
                <a16:creationId xmlns:a16="http://schemas.microsoft.com/office/drawing/2014/main" id="{41BADE24-E02E-B86B-4973-FF07C9C25E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681" y="1296361"/>
            <a:ext cx="7156551" cy="99289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8000" b="0" spc="1000" baseline="0">
                <a:solidFill>
                  <a:schemeClr val="bg1">
                    <a:alpha val="1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Felix Titling" pitchFamily="82" charset="77"/>
              </a:defRPr>
            </a:lvl2pPr>
            <a:lvl3pPr marL="914400" indent="0">
              <a:buNone/>
              <a:defRPr>
                <a:latin typeface="Felix Titling" pitchFamily="82" charset="77"/>
              </a:defRPr>
            </a:lvl3pPr>
            <a:lvl4pPr marL="1371600" indent="0">
              <a:buNone/>
              <a:defRPr>
                <a:latin typeface="Felix Titling" pitchFamily="82" charset="77"/>
              </a:defRPr>
            </a:lvl4pPr>
            <a:lvl5pPr marL="1828800" indent="0">
              <a:buNone/>
              <a:defRPr>
                <a:latin typeface="Felix Titling" pitchFamily="82" charset="77"/>
              </a:defRPr>
            </a:lvl5pPr>
          </a:lstStyle>
          <a:p>
            <a:pPr lvl="0" rtl="0"/>
            <a:r>
              <a:rPr lang="zh-TW" altLang="en-US" noProof="0"/>
              <a:t>母片</a:t>
            </a:r>
          </a:p>
        </p:txBody>
      </p:sp>
      <p:sp>
        <p:nvSpPr>
          <p:cNvPr id="12" name="圖片版面配置區 11">
            <a:extLst>
              <a:ext uri="{FF2B5EF4-FFF2-40B4-BE49-F238E27FC236}">
                <a16:creationId xmlns:a16="http://schemas.microsoft.com/office/drawing/2014/main" id="{096E5F1B-46ED-3EC5-71CF-9A8DF9B5AA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78452" y="1"/>
            <a:ext cx="5329866" cy="6857999"/>
          </a:xfrm>
          <a:custGeom>
            <a:avLst/>
            <a:gdLst>
              <a:gd name="connsiteX0" fmla="*/ 1468669 w 5329866"/>
              <a:gd name="connsiteY0" fmla="*/ 0 h 6857999"/>
              <a:gd name="connsiteX1" fmla="*/ 3861198 w 5329866"/>
              <a:gd name="connsiteY1" fmla="*/ 0 h 6857999"/>
              <a:gd name="connsiteX2" fmla="*/ 3935198 w 5329866"/>
              <a:gd name="connsiteY2" fmla="*/ 35648 h 6857999"/>
              <a:gd name="connsiteX3" fmla="*/ 5329866 w 5329866"/>
              <a:gd name="connsiteY3" fmla="*/ 2378939 h 6857999"/>
              <a:gd name="connsiteX4" fmla="*/ 5326197 w 5329866"/>
              <a:gd name="connsiteY4" fmla="*/ 2451597 h 6857999"/>
              <a:gd name="connsiteX5" fmla="*/ 5329866 w 5329866"/>
              <a:gd name="connsiteY5" fmla="*/ 2451597 h 6857999"/>
              <a:gd name="connsiteX6" fmla="*/ 5329866 w 5329866"/>
              <a:gd name="connsiteY6" fmla="*/ 4479062 h 6857999"/>
              <a:gd name="connsiteX7" fmla="*/ 5329866 w 5329866"/>
              <a:gd name="connsiteY7" fmla="*/ 4613614 h 6857999"/>
              <a:gd name="connsiteX8" fmla="*/ 5323072 w 5329866"/>
              <a:gd name="connsiteY8" fmla="*/ 4613614 h 6857999"/>
              <a:gd name="connsiteX9" fmla="*/ 5316108 w 5329866"/>
              <a:gd name="connsiteY9" fmla="*/ 4751536 h 6857999"/>
              <a:gd name="connsiteX10" fmla="*/ 4074162 w 5329866"/>
              <a:gd name="connsiteY10" fmla="*/ 6741331 h 6857999"/>
              <a:gd name="connsiteX11" fmla="*/ 3866902 w 5329866"/>
              <a:gd name="connsiteY11" fmla="*/ 6857999 h 6857999"/>
              <a:gd name="connsiteX12" fmla="*/ 1462965 w 5329866"/>
              <a:gd name="connsiteY12" fmla="*/ 6857999 h 6857999"/>
              <a:gd name="connsiteX13" fmla="*/ 1255705 w 5329866"/>
              <a:gd name="connsiteY13" fmla="*/ 6741331 h 6857999"/>
              <a:gd name="connsiteX14" fmla="*/ 13759 w 5329866"/>
              <a:gd name="connsiteY14" fmla="*/ 4751536 h 6857999"/>
              <a:gd name="connsiteX15" fmla="*/ 6794 w 5329866"/>
              <a:gd name="connsiteY15" fmla="*/ 4613614 h 6857999"/>
              <a:gd name="connsiteX16" fmla="*/ 2 w 5329866"/>
              <a:gd name="connsiteY16" fmla="*/ 4613614 h 6857999"/>
              <a:gd name="connsiteX17" fmla="*/ 2 w 5329866"/>
              <a:gd name="connsiteY17" fmla="*/ 4479104 h 6857999"/>
              <a:gd name="connsiteX18" fmla="*/ 0 w 5329866"/>
              <a:gd name="connsiteY18" fmla="*/ 4479062 h 6857999"/>
              <a:gd name="connsiteX19" fmla="*/ 2 w 5329866"/>
              <a:gd name="connsiteY19" fmla="*/ 4479020 h 6857999"/>
              <a:gd name="connsiteX20" fmla="*/ 2 w 5329866"/>
              <a:gd name="connsiteY20" fmla="*/ 2451597 h 6857999"/>
              <a:gd name="connsiteX21" fmla="*/ 3670 w 5329866"/>
              <a:gd name="connsiteY21" fmla="*/ 2451597 h 6857999"/>
              <a:gd name="connsiteX22" fmla="*/ 0 w 5329866"/>
              <a:gd name="connsiteY22" fmla="*/ 2378939 h 6857999"/>
              <a:gd name="connsiteX23" fmla="*/ 1394668 w 5329866"/>
              <a:gd name="connsiteY23" fmla="*/ 3564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329866" h="6857999">
                <a:moveTo>
                  <a:pt x="1468669" y="0"/>
                </a:moveTo>
                <a:lnTo>
                  <a:pt x="3861198" y="0"/>
                </a:lnTo>
                <a:lnTo>
                  <a:pt x="3935198" y="35648"/>
                </a:lnTo>
                <a:cubicBezTo>
                  <a:pt x="4765925" y="486926"/>
                  <a:pt x="5329866" y="1367075"/>
                  <a:pt x="5329866" y="2378939"/>
                </a:cubicBezTo>
                <a:lnTo>
                  <a:pt x="5326197" y="2451597"/>
                </a:lnTo>
                <a:lnTo>
                  <a:pt x="5329866" y="2451597"/>
                </a:lnTo>
                <a:lnTo>
                  <a:pt x="5329866" y="4479062"/>
                </a:lnTo>
                <a:lnTo>
                  <a:pt x="5329866" y="4613614"/>
                </a:lnTo>
                <a:lnTo>
                  <a:pt x="5323072" y="4613614"/>
                </a:lnTo>
                <a:lnTo>
                  <a:pt x="5316108" y="4751536"/>
                </a:lnTo>
                <a:cubicBezTo>
                  <a:pt x="5230813" y="5591417"/>
                  <a:pt x="4755512" y="6316001"/>
                  <a:pt x="4074162" y="6741331"/>
                </a:cubicBezTo>
                <a:lnTo>
                  <a:pt x="3866902" y="6857999"/>
                </a:lnTo>
                <a:lnTo>
                  <a:pt x="1462965" y="6857999"/>
                </a:lnTo>
                <a:lnTo>
                  <a:pt x="1255705" y="6741331"/>
                </a:lnTo>
                <a:cubicBezTo>
                  <a:pt x="574355" y="6316001"/>
                  <a:pt x="99054" y="5591417"/>
                  <a:pt x="13759" y="4751536"/>
                </a:cubicBezTo>
                <a:lnTo>
                  <a:pt x="6794" y="4613614"/>
                </a:lnTo>
                <a:lnTo>
                  <a:pt x="2" y="4613614"/>
                </a:lnTo>
                <a:lnTo>
                  <a:pt x="2" y="4479104"/>
                </a:lnTo>
                <a:lnTo>
                  <a:pt x="0" y="4479062"/>
                </a:lnTo>
                <a:lnTo>
                  <a:pt x="2" y="4479020"/>
                </a:lnTo>
                <a:lnTo>
                  <a:pt x="2" y="2451597"/>
                </a:lnTo>
                <a:lnTo>
                  <a:pt x="3670" y="2451597"/>
                </a:lnTo>
                <a:lnTo>
                  <a:pt x="0" y="2378939"/>
                </a:lnTo>
                <a:cubicBezTo>
                  <a:pt x="0" y="1367075"/>
                  <a:pt x="563941" y="486926"/>
                  <a:pt x="1394668" y="35648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1400" b="0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3E88BC5D-D10D-D2EE-8AE9-4CDCE46A2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681" y="2404268"/>
            <a:ext cx="7217511" cy="20494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8000" b="0" i="0" spc="10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母片標題</a:t>
            </a:r>
          </a:p>
        </p:txBody>
      </p:sp>
    </p:spTree>
    <p:extLst>
      <p:ext uri="{BB962C8B-B14F-4D97-AF65-F5344CB8AC3E}">
        <p14:creationId xmlns:p14="http://schemas.microsoft.com/office/powerpoint/2010/main" val="2212233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3">
            <a:extLst>
              <a:ext uri="{FF2B5EF4-FFF2-40B4-BE49-F238E27FC236}">
                <a16:creationId xmlns:a16="http://schemas.microsoft.com/office/drawing/2014/main" id="{DAB6B870-F337-8AB9-902B-76B31B88B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039033"/>
            <a:ext cx="3478306" cy="3186954"/>
          </a:xfr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50000"/>
              </a:lnSpc>
              <a:defRPr lang="en-US" sz="1600" b="1" i="0" spc="5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</a:lstStyle>
          <a:p>
            <a:pPr marL="0" lvl="0" indent="0" rtl="0">
              <a:spcBef>
                <a:spcPts val="1000"/>
              </a:spcBef>
              <a:buFont typeface="Arial" panose="020B0604020202020204" pitchFamily="34" charset="0"/>
            </a:pPr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10" name="文字版面配置區 3">
            <a:extLst>
              <a:ext uri="{FF2B5EF4-FFF2-40B4-BE49-F238E27FC236}">
                <a16:creationId xmlns:a16="http://schemas.microsoft.com/office/drawing/2014/main" id="{D96EB741-6571-225B-B7A7-4AA9D1E618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90962" y="0"/>
            <a:ext cx="4667994" cy="6857998"/>
          </a:xfr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>
              <a:buNone/>
              <a:defRPr lang="en-US" sz="8000" spc="1000" dirty="0">
                <a:solidFill>
                  <a:schemeClr val="tx2">
                    <a:alpha val="10000"/>
                  </a:schemeClr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感謝</a:t>
            </a:r>
          </a:p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感謝</a:t>
            </a:r>
          </a:p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感謝 </a:t>
            </a:r>
          </a:p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您</a:t>
            </a:r>
          </a:p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您</a:t>
            </a:r>
          </a:p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您</a:t>
            </a:r>
          </a:p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您</a:t>
            </a:r>
          </a:p>
        </p:txBody>
      </p:sp>
      <p:sp>
        <p:nvSpPr>
          <p:cNvPr id="11" name="文字版面配置區 3">
            <a:extLst>
              <a:ext uri="{FF2B5EF4-FFF2-40B4-BE49-F238E27FC236}">
                <a16:creationId xmlns:a16="http://schemas.microsoft.com/office/drawing/2014/main" id="{6826FD8D-780A-4913-0206-2F5C031F37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0962" y="1209784"/>
            <a:ext cx="4667994" cy="3186954"/>
          </a:xfrm>
          <a:noFill/>
        </p:spPr>
        <p:txBody>
          <a:bodyPr vert="horz" wrap="square" lIns="0" tIns="0" rIns="0" bIns="0" rtlCol="0" anchor="ctr">
            <a:noAutofit/>
          </a:bodyPr>
          <a:lstStyle>
            <a:lvl1pPr marL="0" indent="0">
              <a:buNone/>
              <a:defRPr lang="en-US" sz="8000" spc="1000" dirty="0">
                <a:solidFill>
                  <a:schemeClr val="tx2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228600" marR="0" lvl="0" indent="-2286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zh-TW" altLang="en-US" noProof="0"/>
              <a:t>感謝您</a:t>
            </a:r>
          </a:p>
        </p:txBody>
      </p:sp>
    </p:spTree>
    <p:extLst>
      <p:ext uri="{BB962C8B-B14F-4D97-AF65-F5344CB8AC3E}">
        <p14:creationId xmlns:p14="http://schemas.microsoft.com/office/powerpoint/2010/main" val="215311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EB94F4E-FF39-0408-C3C6-A986750D8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1" y="365125"/>
            <a:ext cx="10915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B616EB-5E9D-04D9-F6DC-33F7E5BBA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460" y="1825625"/>
            <a:ext cx="109150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61C11A-4AAF-B1E1-B1F3-67C0A55EF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103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5C7AAE-A677-454A-8BDB-62A0650ACE98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頁尾版面配置區 4">
            <a:extLst>
              <a:ext uri="{FF2B5EF4-FFF2-40B4-BE49-F238E27FC236}">
                <a16:creationId xmlns:a16="http://schemas.microsoft.com/office/drawing/2014/main" id="{D63DBDAD-8830-10AA-86C7-A42D12292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8460" y="6356350"/>
            <a:ext cx="4114800" cy="365125"/>
          </a:xfrm>
          <a:prstGeom prst="rect">
            <a:avLst/>
          </a:prstGeom>
        </p:spPr>
        <p:txBody>
          <a:bodyPr rtlCol="0" anchor="ctr"/>
          <a:lstStyle>
            <a:lvl1pPr>
              <a:defRPr sz="1200" b="0" i="0" spc="50" baseline="0">
                <a:solidFill>
                  <a:schemeClr val="accent2">
                    <a:lumMod val="9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155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11" r:id="rId9"/>
    <p:sldLayoutId id="2147483706" r:id="rId10"/>
    <p:sldLayoutId id="2147483707" r:id="rId11"/>
    <p:sldLayoutId id="2147483708" r:id="rId12"/>
    <p:sldLayoutId id="2147483709" r:id="rId13"/>
    <p:sldLayoutId id="2147483710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50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i="0" kern="1200" spc="5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spc="5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spc="50" baseline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Book" panose="0200050302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706A25-0569-0BFE-AB1C-FC206CC58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485" y="1446246"/>
            <a:ext cx="5651515" cy="867746"/>
          </a:xfrm>
        </p:spPr>
        <p:txBody>
          <a:bodyPr rtlCol="0"/>
          <a:lstStyle/>
          <a:p>
            <a:pPr algn="ctr"/>
            <a:br>
              <a:rPr lang="zh-TW" altLang="en-US" sz="2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/>
          </a:p>
        </p:txBody>
      </p:sp>
      <p:pic>
        <p:nvPicPr>
          <p:cNvPr id="32" name="圖片版面配置區 31">
            <a:extLst>
              <a:ext uri="{FF2B5EF4-FFF2-40B4-BE49-F238E27FC236}">
                <a16:creationId xmlns:a16="http://schemas.microsoft.com/office/drawing/2014/main" id="{BFB2DBCA-A329-2FA0-4421-7938A0D510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665" r="665"/>
          <a:stretch>
            <a:fillRect/>
          </a:stretch>
        </p:blipFill>
        <p:spPr>
          <a:custGeom>
            <a:avLst/>
            <a:gdLst>
              <a:gd name="connsiteX0" fmla="*/ 2247899 w 4495799"/>
              <a:gd name="connsiteY0" fmla="*/ 0 h 5651934"/>
              <a:gd name="connsiteX1" fmla="*/ 4495799 w 4495799"/>
              <a:gd name="connsiteY1" fmla="*/ 2223551 h 5651934"/>
              <a:gd name="connsiteX2" fmla="*/ 4495799 w 4495799"/>
              <a:gd name="connsiteY2" fmla="*/ 5651934 h 5651934"/>
              <a:gd name="connsiteX3" fmla="*/ 0 w 4495799"/>
              <a:gd name="connsiteY3" fmla="*/ 5651934 h 5651934"/>
              <a:gd name="connsiteX4" fmla="*/ 0 w 4495799"/>
              <a:gd name="connsiteY4" fmla="*/ 2223531 h 5651934"/>
              <a:gd name="connsiteX5" fmla="*/ 11605 w 4495799"/>
              <a:gd name="connsiteY5" fmla="*/ 1996206 h 5651934"/>
              <a:gd name="connsiteX6" fmla="*/ 2247899 w 4495799"/>
              <a:gd name="connsiteY6" fmla="*/ 0 h 5651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5799" h="5651934">
                <a:moveTo>
                  <a:pt x="2247899" y="0"/>
                </a:moveTo>
                <a:cubicBezTo>
                  <a:pt x="3489380" y="0"/>
                  <a:pt x="4495799" y="995518"/>
                  <a:pt x="4495799" y="2223551"/>
                </a:cubicBezTo>
                <a:lnTo>
                  <a:pt x="4495799" y="5651934"/>
                </a:lnTo>
                <a:lnTo>
                  <a:pt x="0" y="5651934"/>
                </a:lnTo>
                <a:lnTo>
                  <a:pt x="0" y="2223531"/>
                </a:lnTo>
                <a:lnTo>
                  <a:pt x="11605" y="1996206"/>
                </a:lnTo>
                <a:cubicBezTo>
                  <a:pt x="126720" y="874967"/>
                  <a:pt x="1084011" y="0"/>
                  <a:pt x="2247899" y="0"/>
                </a:cubicBezTo>
                <a:close/>
              </a:path>
            </a:pathLst>
          </a:custGeom>
          <a:solidFill>
            <a:srgbClr val="C16548">
              <a:lumMod val="75000"/>
            </a:srgbClr>
          </a:solidFill>
        </p:spPr>
      </p:pic>
      <p:sp>
        <p:nvSpPr>
          <p:cNvPr id="38" name="文字方塊 37">
            <a:extLst>
              <a:ext uri="{FF2B5EF4-FFF2-40B4-BE49-F238E27FC236}">
                <a16:creationId xmlns:a16="http://schemas.microsoft.com/office/drawing/2014/main" id="{747803A5-9D66-6980-F143-C4C756541301}"/>
              </a:ext>
            </a:extLst>
          </p:cNvPr>
          <p:cNvSpPr txBox="1"/>
          <p:nvPr/>
        </p:nvSpPr>
        <p:spPr>
          <a:xfrm>
            <a:off x="578224" y="1002956"/>
            <a:ext cx="66187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健康氣味雷達</a:t>
            </a:r>
            <a:r>
              <a:rPr lang="en-US" altLang="zh-TW" sz="4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sz="4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4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非侵入式病理檢測方案</a:t>
            </a:r>
            <a:br>
              <a:rPr lang="zh-TW" altLang="en-US" sz="8000" dirty="0"/>
            </a:br>
            <a:endParaRPr lang="zh-TW" altLang="en-US" sz="2000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F995A4C6-B163-341A-3B74-720B282C5204}"/>
              </a:ext>
            </a:extLst>
          </p:cNvPr>
          <p:cNvSpPr txBox="1"/>
          <p:nvPr/>
        </p:nvSpPr>
        <p:spPr>
          <a:xfrm>
            <a:off x="578224" y="5411754"/>
            <a:ext cx="66187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團隊名稱</a:t>
            </a:r>
            <a:r>
              <a:rPr lang="en-US" altLang="zh-TW" sz="2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:Feels Team</a:t>
            </a:r>
            <a:br>
              <a:rPr lang="zh-TW" altLang="en-US" sz="8000" dirty="0"/>
            </a:br>
            <a:endParaRPr lang="zh-TW" altLang="en-US" sz="2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DC71086-E724-5465-4B98-15E5132148F5}"/>
              </a:ext>
            </a:extLst>
          </p:cNvPr>
          <p:cNvSpPr txBox="1"/>
          <p:nvPr/>
        </p:nvSpPr>
        <p:spPr>
          <a:xfrm>
            <a:off x="10650619" y="6027763"/>
            <a:ext cx="154138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4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副本</a:t>
            </a:r>
            <a:br>
              <a:rPr lang="zh-TW" altLang="en-US" sz="8000" dirty="0"/>
            </a:b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27122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C9A004-BF6D-FE16-E2E8-44F687F1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0" y="372975"/>
            <a:ext cx="3894211" cy="2183412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開發過程與技術特色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為什麼呼氣能測血糖？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EAD136D-505E-4253-3F50-0C565558269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1743C7-C079-31F6-50CF-CAF5C83A596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endParaRPr lang="en-US" altLang="zh-TW" dirty="0"/>
          </a:p>
          <a:p>
            <a:pPr rtl="0"/>
            <a:fld id="{295C7AAE-A677-454A-8BDB-62A0650ACE98}" type="slidenum">
              <a:rPr lang="en-US" altLang="zh-TW" smtClean="0"/>
              <a:pPr rtl="0"/>
              <a:t>2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730CE35-53FA-AA10-6F4E-3C6F5CAA8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341" y="0"/>
            <a:ext cx="7198659" cy="6858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7F019027-2516-8595-37D0-366C4A6C07B2}"/>
              </a:ext>
            </a:extLst>
          </p:cNvPr>
          <p:cNvSpPr/>
          <p:nvPr/>
        </p:nvSpPr>
        <p:spPr>
          <a:xfrm>
            <a:off x="9448800" y="0"/>
            <a:ext cx="1111045" cy="6858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3B32D4E-76E8-AF35-5F64-540B55FE9A4C}"/>
              </a:ext>
            </a:extLst>
          </p:cNvPr>
          <p:cNvSpPr txBox="1"/>
          <p:nvPr/>
        </p:nvSpPr>
        <p:spPr>
          <a:xfrm>
            <a:off x="0" y="2556387"/>
            <a:ext cx="4993341" cy="365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健康組 (19人)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平均呼氣丙酮濃度為 </a:t>
            </a:r>
            <a:r>
              <a:rPr lang="zh-TW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1.19 ppm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，且丙酮濃度與血糖值之間沒有觀察到明顯的相關性 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糖尿病組 (6人)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包含3名第1型糖尿病(T1D)與3名第2型糖尿病(T2D)患者。T1D 與 T2D 的平均丙酮濃度分別為 </a:t>
            </a:r>
            <a:r>
              <a:rPr lang="zh-TW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2.41 ppm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與 </a:t>
            </a:r>
            <a:r>
              <a:rPr lang="zh-TW" altLang="zh-TW" sz="1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2.95 ppm</a:t>
            </a: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 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結果暗示血糖值較高的受試者，其呼氣丙酮濃度傾向偏高 。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TW" altLang="zh-TW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口服葡萄糖耐受測試 (OGTT) 動態追蹤</a:t>
            </a:r>
            <a:r>
              <a:rPr lang="zh-TW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對一名健康受試者進行測試發現，隨著血糖在飯後 60 分鐘達到高峰，呼氣丙酮濃度在第一小時內呈現下降趨勢（從 1.72 ppm 降至 1.57 ppm），隨後穩定在約 1.36 ppm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zh-TW" altLang="zh-TW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/>
            <a:endParaRPr lang="zh-TW" altLang="en-US" sz="1200" spc="500" dirty="0">
              <a:solidFill>
                <a:schemeClr val="tx1">
                  <a:alpha val="5000"/>
                </a:schemeClr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767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B3EE7-6C2A-815D-A1C2-775F0A066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CAC7A6-6C9F-3331-80BD-2A6ACCC30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0" y="372975"/>
            <a:ext cx="10118030" cy="1141193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開發過程與技術特色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丙酮的斜率判斷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C372AF6-694E-04A2-E522-37D1B56DFAC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1C0BD9-CE30-BAD0-9E29-75AAF62C9E7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endParaRPr lang="en-US" altLang="zh-TW" dirty="0"/>
          </a:p>
          <a:p>
            <a:pPr rtl="0"/>
            <a:fld id="{295C7AAE-A677-454A-8BDB-62A0650ACE98}" type="slidenum">
              <a:rPr lang="en-US" altLang="zh-TW" smtClean="0"/>
              <a:pPr rtl="0"/>
              <a:t>3</a:t>
            </a:fld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2257DB03-A125-2817-02EE-A96BD0752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704" y="1514168"/>
            <a:ext cx="7468592" cy="448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5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6F58E-5DF3-9490-83A1-EAFC8EFBF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99DE6C-77C6-D040-5182-22A3B881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0" y="372975"/>
            <a:ext cx="10118030" cy="1141193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開發過程與技術特色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混淆矩陣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FEE5F88-9076-9F95-3BF1-4CD5E254F4E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95585" y="6485025"/>
            <a:ext cx="4114800" cy="365125"/>
          </a:xfrm>
        </p:spPr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802FAC-5331-F389-D899-37A2FD54774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endParaRPr lang="en-US" altLang="zh-TW" dirty="0"/>
          </a:p>
          <a:p>
            <a:pPr rtl="0"/>
            <a:fld id="{295C7AAE-A677-454A-8BDB-62A0650ACE98}" type="slidenum">
              <a:rPr lang="en-US" altLang="zh-TW" smtClean="0"/>
              <a:pPr rtl="0"/>
              <a:t>4</a:t>
            </a:fld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0A0D569-FC44-6BBD-0752-A00925D3D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0" y="1514168"/>
            <a:ext cx="5486411" cy="457200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C7DDA159-1DD0-9146-BC03-AD5A09CF7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212" y="1514168"/>
            <a:ext cx="5486411" cy="4572009"/>
          </a:xfrm>
          <a:prstGeom prst="rect">
            <a:avLst/>
          </a:prstGeom>
        </p:spPr>
      </p:pic>
      <p:sp>
        <p:nvSpPr>
          <p:cNvPr id="6" name="文字版面配置區 4">
            <a:extLst>
              <a:ext uri="{FF2B5EF4-FFF2-40B4-BE49-F238E27FC236}">
                <a16:creationId xmlns:a16="http://schemas.microsoft.com/office/drawing/2014/main" id="{CDE47522-737C-EEA4-F12F-4D38731E2A64}"/>
              </a:ext>
            </a:extLst>
          </p:cNvPr>
          <p:cNvSpPr txBox="1">
            <a:spLocks/>
          </p:cNvSpPr>
          <p:nvPr/>
        </p:nvSpPr>
        <p:spPr>
          <a:xfrm>
            <a:off x="2653938" y="6143090"/>
            <a:ext cx="1455454" cy="285022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b="1" i="0" kern="12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spc="5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2400" dirty="0">
                <a:solidFill>
                  <a:srgbClr val="C1654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隨機森林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8A8DE3E-E4B5-5DAF-49C7-159EA25C1562}"/>
              </a:ext>
            </a:extLst>
          </p:cNvPr>
          <p:cNvSpPr txBox="1"/>
          <p:nvPr/>
        </p:nvSpPr>
        <p:spPr>
          <a:xfrm>
            <a:off x="8634659" y="6143984"/>
            <a:ext cx="1125516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zh-TW" altLang="en-US" sz="2400" b="1" spc="50" dirty="0">
                <a:solidFill>
                  <a:srgbClr val="C16548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決策樹</a:t>
            </a:r>
          </a:p>
        </p:txBody>
      </p:sp>
    </p:spTree>
    <p:extLst>
      <p:ext uri="{BB962C8B-B14F-4D97-AF65-F5344CB8AC3E}">
        <p14:creationId xmlns:p14="http://schemas.microsoft.com/office/powerpoint/2010/main" val="2542926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4">
            <a:extLst>
              <a:ext uri="{FF2B5EF4-FFF2-40B4-BE49-F238E27FC236}">
                <a16:creationId xmlns:a16="http://schemas.microsoft.com/office/drawing/2014/main" id="{07C6EF11-357E-8A93-285C-59B38528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62" y="642551"/>
            <a:ext cx="10090498" cy="1553680"/>
          </a:xfrm>
        </p:spPr>
        <p:txBody>
          <a:bodyPr rtlCol="0"/>
          <a:lstStyle/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產品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SWOT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817898FC-371F-7E4F-C3C6-AFEB85699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460" y="1821744"/>
            <a:ext cx="2227344" cy="677817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優勢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(Strengths)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2" name="文字版面配置區 21">
            <a:extLst>
              <a:ext uri="{FF2B5EF4-FFF2-40B4-BE49-F238E27FC236}">
                <a16:creationId xmlns:a16="http://schemas.microsoft.com/office/drawing/2014/main" id="{FBAEC9BA-7C60-FAB5-0D08-1FB1666102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34371" y="1821744"/>
            <a:ext cx="2227344" cy="677817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劣勢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(Weaknesses)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文字版面配置區 19">
            <a:extLst>
              <a:ext uri="{FF2B5EF4-FFF2-40B4-BE49-F238E27FC236}">
                <a16:creationId xmlns:a16="http://schemas.microsoft.com/office/drawing/2014/main" id="{1214355B-5C62-1D27-29FF-D84FC1938B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30282" y="1821744"/>
            <a:ext cx="2380054" cy="677817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機會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(Opportunities)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4748053E-1D4D-2985-D6D1-53597E3A9B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26192" y="1821744"/>
            <a:ext cx="2227344" cy="677817"/>
          </a:xfrm>
        </p:spPr>
        <p:txBody>
          <a:bodyPr rtlCol="0"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威脅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(Threats)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文字版面配置區 18">
            <a:extLst>
              <a:ext uri="{FF2B5EF4-FFF2-40B4-BE49-F238E27FC236}">
                <a16:creationId xmlns:a16="http://schemas.microsoft.com/office/drawing/2014/main" id="{83071AE5-A6F1-987E-4F1E-1CF23D25C6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8464" y="2305535"/>
            <a:ext cx="2227344" cy="4636842"/>
          </a:xfrm>
        </p:spPr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完全非侵入式：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零痛感、無傷口，徹底解決病患抗拒扎針的痛點。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邊緣運算即時性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 </a:t>
            </a:r>
            <a:endParaRPr lang="en-US" altLang="zh-TW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無需依賴網路即可即時分析，保護病患隱私。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極低檢測成本</a:t>
            </a:r>
            <a:r>
              <a:rPr lang="zh-TW" altLang="en-US" sz="1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： </a:t>
            </a:r>
            <a:endParaRPr lang="en-US" altLang="zh-TW" sz="1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單次耗材成本遠低於傳統試紙與連續血糖監測儀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(CGM)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實證基礎：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已具備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386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筆臨床配對數據作為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AI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模型訓練基礎。</a:t>
            </a:r>
          </a:p>
        </p:txBody>
      </p:sp>
      <p:sp>
        <p:nvSpPr>
          <p:cNvPr id="21" name="文字版面配置區 20">
            <a:extLst>
              <a:ext uri="{FF2B5EF4-FFF2-40B4-BE49-F238E27FC236}">
                <a16:creationId xmlns:a16="http://schemas.microsoft.com/office/drawing/2014/main" id="{71F0AEEE-C884-E10B-AC85-FBC33CD6EA5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534371" y="2305535"/>
            <a:ext cx="2227344" cy="4415940"/>
          </a:xfrm>
        </p:spPr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環境干擾敏感度：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氣體感測器易受環境溫濕度、口腔殘留氣味影響，需持續優化校準演算法。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缺乏醫療認證：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產品尚處於原型驗證階段，尚未取得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TFDA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醫療器材許可。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品牌信任度：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作為全新形態的檢測設備，初期較難撼動醫師與病患對傳統抽血的依賴</a:t>
            </a:r>
          </a:p>
        </p:txBody>
      </p:sp>
      <p:sp>
        <p:nvSpPr>
          <p:cNvPr id="23" name="文字版面配置區 22">
            <a:extLst>
              <a:ext uri="{FF2B5EF4-FFF2-40B4-BE49-F238E27FC236}">
                <a16:creationId xmlns:a16="http://schemas.microsoft.com/office/drawing/2014/main" id="{92078356-1669-E822-DB88-A1AE583DA17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30043" y="2305535"/>
            <a:ext cx="2227344" cy="2707233"/>
          </a:xfrm>
        </p:spPr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高齡化與慢性病趨勢：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糖尿病盛行率逐年攀升，日常監控需求呈爆發性成長。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預防醫學抬頭：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民眾對於「無痛早期篩檢」與「居家健康管理」的付費意願大幅提高。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遠距醫療政策：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疫情後遠距照護法規鬆綁，有利於居家生理數據上傳雲端的商業模式。</a:t>
            </a:r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393B4390-A2A5-FA71-6657-7BD3E97ACF5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6193" y="2305535"/>
            <a:ext cx="2227344" cy="2707233"/>
          </a:xfrm>
        </p:spPr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巨頭技術競爭：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傳統大廠（如亞培、羅氏）持續降低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CGM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產品的價格與侵入感。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法規門檻高昂：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醫療器材臨床試驗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(IRB)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與取證過程漫長且燒錢，可能拉長回本週期。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zh-TW" altLang="en-US" sz="1400" b="1" i="1" dirty="0">
                <a:latin typeface="標楷體" panose="03000509000000000000" pitchFamily="65" charset="-120"/>
                <a:ea typeface="標楷體" panose="03000509000000000000" pitchFamily="65" charset="-120"/>
              </a:rPr>
              <a:t>新技術替代風險： </a:t>
            </a:r>
            <a:endParaRPr lang="en-US" altLang="zh-TW" sz="1400" b="1" i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rtl="0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其他非侵入式技術（如光學血糖感測、汗液感測）也正在快速發展中。的價格</a:t>
            </a: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DB4E7C3B-A91C-B4AB-16D7-E44D99954A2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5C7AAE-A677-454A-8BDB-62A0650ACE98}" type="slidenum">
              <a:rPr lang="en-US" altLang="zh-TW" smtClean="0">
                <a:latin typeface="標楷體" panose="03000509000000000000" pitchFamily="65" charset="-120"/>
                <a:ea typeface="標楷體" panose="03000509000000000000" pitchFamily="65" charset="-120"/>
              </a:rPr>
              <a:pPr rtl="0"/>
              <a:t>5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6595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0DE7D47-0AA4-4FAF-E6F6-290D0E895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行銷計劃</a:t>
            </a:r>
          </a:p>
        </p:txBody>
      </p:sp>
      <p:pic>
        <p:nvPicPr>
          <p:cNvPr id="18" name="圖片版面配置區 17" descr="標籤大綱">
            <a:extLst>
              <a:ext uri="{FF2B5EF4-FFF2-40B4-BE49-F238E27FC236}">
                <a16:creationId xmlns:a16="http://schemas.microsoft.com/office/drawing/2014/main" id="{CD187774-6ADB-4DE4-13DC-40D123E4636F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圖片版面配置區 19" descr="包裝箱開啟大綱">
            <a:extLst>
              <a:ext uri="{FF2B5EF4-FFF2-40B4-BE49-F238E27FC236}">
                <a16:creationId xmlns:a16="http://schemas.microsoft.com/office/drawing/2014/main" id="{7E440645-225C-A495-3796-F50752D488B2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pic>
        <p:nvPicPr>
          <p:cNvPr id="22" name="圖片版面配置區 21" descr="標記大綱​​">
            <a:extLst>
              <a:ext uri="{FF2B5EF4-FFF2-40B4-BE49-F238E27FC236}">
                <a16:creationId xmlns:a16="http://schemas.microsoft.com/office/drawing/2014/main" id="{C734FDE2-A083-C196-BF74-7659F6F4F08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pic>
        <p:nvPicPr>
          <p:cNvPr id="24" name="圖片版面配置區 23" descr="貸款大綱">
            <a:extLst>
              <a:ext uri="{FF2B5EF4-FFF2-40B4-BE49-F238E27FC236}">
                <a16:creationId xmlns:a16="http://schemas.microsoft.com/office/drawing/2014/main" id="{014DE197-C3BA-F6B3-76D8-091FDBC2F2E5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59ADD750-113F-552A-76BE-A45D3B116A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zh-TW" altLang="en-US"/>
              <a:t>價格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B957189-E242-4F90-CEC8-0EF45532016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zh-TW" altLang="en-US"/>
              <a:t>產品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08B93739-F3CF-F1AC-5988-DAA79642D8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zh-TW" altLang="en-US"/>
              <a:t>位置</a:t>
            </a: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39B3B460-7E37-57DB-683F-AA8F3764AA8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zh-TW" altLang="en-US"/>
              <a:t>促銷</a:t>
            </a: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C11A9913-E5BA-DDA1-AB45-909320CBD64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 rtlCol="0"/>
          <a:lstStyle/>
          <a:p>
            <a:pPr rtl="0"/>
            <a:r>
              <a:rPr lang="zh-TW" altLang="en-US"/>
              <a:t>適用於社交行銷的彈性預算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340708AD-D572-3817-A65B-4D7F9E4C488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rtlCol="0"/>
          <a:lstStyle/>
          <a:p>
            <a:pPr rtl="0"/>
            <a:r>
              <a:rPr lang="zh-TW" altLang="en-US"/>
              <a:t>將客戶引導至我們產品的廣告</a:t>
            </a:r>
          </a:p>
        </p:txBody>
      </p:sp>
      <p:sp>
        <p:nvSpPr>
          <p:cNvPr id="14" name="文字版面配置區 13">
            <a:extLst>
              <a:ext uri="{FF2B5EF4-FFF2-40B4-BE49-F238E27FC236}">
                <a16:creationId xmlns:a16="http://schemas.microsoft.com/office/drawing/2014/main" id="{4526266B-8E80-C7BD-6CCC-6F97E7AE78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rtlCol="0"/>
          <a:lstStyle/>
          <a:p>
            <a:pPr rtl="0"/>
            <a:r>
              <a:rPr lang="zh-TW" altLang="en-US"/>
              <a:t>熱門社交媒體公司</a:t>
            </a:r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9BE27B7B-4DD9-C00C-5E6A-96B519B6124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rtlCol="0"/>
          <a:lstStyle/>
          <a:p>
            <a:pPr rtl="0"/>
            <a:r>
              <a:rPr lang="zh-TW" altLang="en-US"/>
              <a:t>促銷會執行兩週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D7686A9-083D-0D40-5B10-04C6E0BF196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zh-TW" altLang="en-US"/>
              <a:t>簡報標題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493EA4-ADA3-5220-BB00-52821F87DC0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5C7AAE-A677-454A-8BDB-62A0650ACE98}" type="slidenum">
              <a:rPr lang="en-US" altLang="zh-TW" smtClean="0"/>
              <a:pPr rtl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721610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Product-Summary">
      <a:dk1>
        <a:srgbClr val="000000"/>
      </a:dk1>
      <a:lt1>
        <a:srgbClr val="FFFFFF"/>
      </a:lt1>
      <a:dk2>
        <a:srgbClr val="C16548"/>
      </a:dk2>
      <a:lt2>
        <a:srgbClr val="E7E6E6"/>
      </a:lt2>
      <a:accent1>
        <a:srgbClr val="C16548"/>
      </a:accent1>
      <a:accent2>
        <a:srgbClr val="E1C9C1"/>
      </a:accent2>
      <a:accent3>
        <a:srgbClr val="EFE9E7"/>
      </a:accent3>
      <a:accent4>
        <a:srgbClr val="7C8C5F"/>
      </a:accent4>
      <a:accent5>
        <a:srgbClr val="DAE7C3"/>
      </a:accent5>
      <a:accent6>
        <a:srgbClr val="ECF1E3"/>
      </a:accent6>
      <a:hlink>
        <a:srgbClr val="0563C1"/>
      </a:hlink>
      <a:folHlink>
        <a:srgbClr val="954F72"/>
      </a:folHlink>
    </a:clrScheme>
    <a:fontScheme name="Custom 11">
      <a:majorFont>
        <a:latin typeface="Felix Titl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vert="horz" lIns="0" tIns="0" rIns="0" bIns="0" rtlCol="0" anchor="t">
        <a:noAutofit/>
      </a:bodyPr>
      <a:lstStyle>
        <a:defPPr algn="l">
          <a:defRPr sz="75000" spc="500" dirty="0">
            <a:solidFill>
              <a:srgbClr val="C16548">
                <a:alpha val="5000"/>
              </a:srgbClr>
            </a:solidFill>
            <a:latin typeface="Felix Titling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66612837_TF89238778_Win32" id="{04C00CEA-F9D2-44C9-BD16-F8B883A81C12}" vid="{9B0DD142-1DE5-48D4-BB2C-630F04A201B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產品摘要簡報</Template>
  <TotalTime>235</TotalTime>
  <Words>916</Words>
  <Application>Microsoft Office PowerPoint</Application>
  <PresentationFormat>寬螢幕</PresentationFormat>
  <Paragraphs>87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Avenir Book</vt:lpstr>
      <vt:lpstr>Microsoft JhengHei UI</vt:lpstr>
      <vt:lpstr>標楷體</vt:lpstr>
      <vt:lpstr>Arial</vt:lpstr>
      <vt:lpstr>Felix Titling</vt:lpstr>
      <vt:lpstr>自訂設計</vt:lpstr>
      <vt:lpstr> </vt:lpstr>
      <vt:lpstr>開發過程與技術特色 為什麼呼氣能測血糖？</vt:lpstr>
      <vt:lpstr>開發過程與技術特色 丙酮的斜率判斷</vt:lpstr>
      <vt:lpstr>開發過程與技術特色 混淆矩陣</vt:lpstr>
      <vt:lpstr>產品 SWOT 分析</vt:lpstr>
      <vt:lpstr>行銷計劃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晉廷 王</dc:creator>
  <cp:lastModifiedBy>晉廷 王</cp:lastModifiedBy>
  <cp:revision>3</cp:revision>
  <dcterms:created xsi:type="dcterms:W3CDTF">2026-04-19T15:10:25Z</dcterms:created>
  <dcterms:modified xsi:type="dcterms:W3CDTF">2026-04-21T16:51:38Z</dcterms:modified>
</cp:coreProperties>
</file>