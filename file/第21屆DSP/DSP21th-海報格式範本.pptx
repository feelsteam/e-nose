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"/>
  </p:notesMasterIdLst>
  <p:handoutMasterIdLst>
    <p:handoutMasterId r:id="rId5"/>
  </p:handoutMasterIdLst>
  <p:sldIdLst>
    <p:sldId id="257" r:id="rId2"/>
    <p:sldId id="258" r:id="rId3"/>
  </p:sldIdLst>
  <p:sldSz cx="25452388" cy="359997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338">
          <p15:clr>
            <a:srgbClr val="A4A3A4"/>
          </p15:clr>
        </p15:guide>
        <p15:guide id="2" pos="801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1E6B8"/>
    <a:srgbClr val="E40082"/>
    <a:srgbClr val="D5EAD8"/>
    <a:srgbClr val="E50012"/>
    <a:srgbClr val="CDDF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50" d="100"/>
          <a:sy n="50" d="100"/>
        </p:scale>
        <p:origin x="768" y="-6426"/>
      </p:cViewPr>
      <p:guideLst>
        <p:guide orient="horz" pos="11338"/>
        <p:guide pos="801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786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941897-F5D7-4E2C-8B62-E63AC3DA5797}" type="datetimeFigureOut">
              <a:rPr lang="zh-TW" altLang="en-US" smtClean="0"/>
              <a:t>2026/3/26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F12F6E-5DD6-4410-B72C-0A8FBB75FD4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76508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6529B6-9D28-4638-B185-8F5CFE082AE9}" type="datetimeFigureOut">
              <a:rPr lang="zh-TW" altLang="en-US" smtClean="0"/>
              <a:t>2026/3/26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3F5E6C-1331-4FB3-B57A-B370B120D0F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4810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949650" rtl="0" eaLnBrk="1" latinLnBrk="0" hangingPunct="1">
      <a:defRPr sz="3871" kern="1200">
        <a:solidFill>
          <a:schemeClr val="tx1"/>
        </a:solidFill>
        <a:latin typeface="+mn-lt"/>
        <a:ea typeface="+mn-ea"/>
        <a:cs typeface="+mn-cs"/>
      </a:defRPr>
    </a:lvl1pPr>
    <a:lvl2pPr marL="1474825" algn="l" defTabSz="2949650" rtl="0" eaLnBrk="1" latinLnBrk="0" hangingPunct="1">
      <a:defRPr sz="3871" kern="1200">
        <a:solidFill>
          <a:schemeClr val="tx1"/>
        </a:solidFill>
        <a:latin typeface="+mn-lt"/>
        <a:ea typeface="+mn-ea"/>
        <a:cs typeface="+mn-cs"/>
      </a:defRPr>
    </a:lvl2pPr>
    <a:lvl3pPr marL="2949650" algn="l" defTabSz="2949650" rtl="0" eaLnBrk="1" latinLnBrk="0" hangingPunct="1">
      <a:defRPr sz="3871" kern="1200">
        <a:solidFill>
          <a:schemeClr val="tx1"/>
        </a:solidFill>
        <a:latin typeface="+mn-lt"/>
        <a:ea typeface="+mn-ea"/>
        <a:cs typeface="+mn-cs"/>
      </a:defRPr>
    </a:lvl3pPr>
    <a:lvl4pPr marL="4424475" algn="l" defTabSz="2949650" rtl="0" eaLnBrk="1" latinLnBrk="0" hangingPunct="1">
      <a:defRPr sz="3871" kern="1200">
        <a:solidFill>
          <a:schemeClr val="tx1"/>
        </a:solidFill>
        <a:latin typeface="+mn-lt"/>
        <a:ea typeface="+mn-ea"/>
        <a:cs typeface="+mn-cs"/>
      </a:defRPr>
    </a:lvl4pPr>
    <a:lvl5pPr marL="5899300" algn="l" defTabSz="2949650" rtl="0" eaLnBrk="1" latinLnBrk="0" hangingPunct="1">
      <a:defRPr sz="3871" kern="1200">
        <a:solidFill>
          <a:schemeClr val="tx1"/>
        </a:solidFill>
        <a:latin typeface="+mn-lt"/>
        <a:ea typeface="+mn-ea"/>
        <a:cs typeface="+mn-cs"/>
      </a:defRPr>
    </a:lvl5pPr>
    <a:lvl6pPr marL="7374125" algn="l" defTabSz="2949650" rtl="0" eaLnBrk="1" latinLnBrk="0" hangingPunct="1">
      <a:defRPr sz="3871" kern="1200">
        <a:solidFill>
          <a:schemeClr val="tx1"/>
        </a:solidFill>
        <a:latin typeface="+mn-lt"/>
        <a:ea typeface="+mn-ea"/>
        <a:cs typeface="+mn-cs"/>
      </a:defRPr>
    </a:lvl6pPr>
    <a:lvl7pPr marL="8848950" algn="l" defTabSz="2949650" rtl="0" eaLnBrk="1" latinLnBrk="0" hangingPunct="1">
      <a:defRPr sz="3871" kern="1200">
        <a:solidFill>
          <a:schemeClr val="tx1"/>
        </a:solidFill>
        <a:latin typeface="+mn-lt"/>
        <a:ea typeface="+mn-ea"/>
        <a:cs typeface="+mn-cs"/>
      </a:defRPr>
    </a:lvl7pPr>
    <a:lvl8pPr marL="10323775" algn="l" defTabSz="2949650" rtl="0" eaLnBrk="1" latinLnBrk="0" hangingPunct="1">
      <a:defRPr sz="3871" kern="1200">
        <a:solidFill>
          <a:schemeClr val="tx1"/>
        </a:solidFill>
        <a:latin typeface="+mn-lt"/>
        <a:ea typeface="+mn-ea"/>
        <a:cs typeface="+mn-cs"/>
      </a:defRPr>
    </a:lvl8pPr>
    <a:lvl9pPr marL="11798600" algn="l" defTabSz="2949650" rtl="0" eaLnBrk="1" latinLnBrk="0" hangingPunct="1">
      <a:defRPr sz="387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8929" y="5891626"/>
            <a:ext cx="21634530" cy="12533242"/>
          </a:xfrm>
        </p:spPr>
        <p:txBody>
          <a:bodyPr anchor="b"/>
          <a:lstStyle>
            <a:lvl1pPr algn="ctr">
              <a:defRPr sz="16701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81549" y="18908198"/>
            <a:ext cx="19089291" cy="8691601"/>
          </a:xfrm>
        </p:spPr>
        <p:txBody>
          <a:bodyPr/>
          <a:lstStyle>
            <a:lvl1pPr marL="0" indent="0" algn="ctr">
              <a:buNone/>
              <a:defRPr sz="6680"/>
            </a:lvl1pPr>
            <a:lvl2pPr marL="1272616" indent="0" algn="ctr">
              <a:buNone/>
              <a:defRPr sz="5567"/>
            </a:lvl2pPr>
            <a:lvl3pPr marL="2545232" indent="0" algn="ctr">
              <a:buNone/>
              <a:defRPr sz="5010"/>
            </a:lvl3pPr>
            <a:lvl4pPr marL="3817849" indent="0" algn="ctr">
              <a:buNone/>
              <a:defRPr sz="4454"/>
            </a:lvl4pPr>
            <a:lvl5pPr marL="5090465" indent="0" algn="ctr">
              <a:buNone/>
              <a:defRPr sz="4454"/>
            </a:lvl5pPr>
            <a:lvl6pPr marL="6363081" indent="0" algn="ctr">
              <a:buNone/>
              <a:defRPr sz="4454"/>
            </a:lvl6pPr>
            <a:lvl7pPr marL="7635697" indent="0" algn="ctr">
              <a:buNone/>
              <a:defRPr sz="4454"/>
            </a:lvl7pPr>
            <a:lvl8pPr marL="8908313" indent="0" algn="ctr">
              <a:buNone/>
              <a:defRPr sz="4454"/>
            </a:lvl8pPr>
            <a:lvl9pPr marL="10180930" indent="0" algn="ctr">
              <a:buNone/>
              <a:defRPr sz="4454"/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CF64B-10ED-4442-B8BB-57530B777B26}" type="datetimeFigureOut">
              <a:rPr lang="zh-TW" altLang="en-US" smtClean="0"/>
              <a:t>2026/3/26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373A1-F07D-4FD4-A0D9-E9063B347E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2959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CF64B-10ED-4442-B8BB-57530B777B26}" type="datetimeFigureOut">
              <a:rPr lang="zh-TW" altLang="en-US" smtClean="0"/>
              <a:t>2026/3/26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373A1-F07D-4FD4-A0D9-E9063B347E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4284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6596" y="8974945"/>
            <a:ext cx="21952685" cy="14974888"/>
          </a:xfrm>
        </p:spPr>
        <p:txBody>
          <a:bodyPr anchor="b"/>
          <a:lstStyle>
            <a:lvl1pPr>
              <a:defRPr sz="16701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6596" y="24091502"/>
            <a:ext cx="21952685" cy="7874940"/>
          </a:xfrm>
        </p:spPr>
        <p:txBody>
          <a:bodyPr/>
          <a:lstStyle>
            <a:lvl1pPr marL="0" indent="0">
              <a:buNone/>
              <a:defRPr sz="6680">
                <a:solidFill>
                  <a:schemeClr val="tx1"/>
                </a:solidFill>
              </a:defRPr>
            </a:lvl1pPr>
            <a:lvl2pPr marL="1272616" indent="0">
              <a:buNone/>
              <a:defRPr sz="5567">
                <a:solidFill>
                  <a:schemeClr val="tx1">
                    <a:tint val="75000"/>
                  </a:schemeClr>
                </a:solidFill>
              </a:defRPr>
            </a:lvl2pPr>
            <a:lvl3pPr marL="2545232" indent="0">
              <a:buNone/>
              <a:defRPr sz="5010">
                <a:solidFill>
                  <a:schemeClr val="tx1">
                    <a:tint val="75000"/>
                  </a:schemeClr>
                </a:solidFill>
              </a:defRPr>
            </a:lvl3pPr>
            <a:lvl4pPr marL="3817849" indent="0">
              <a:buNone/>
              <a:defRPr sz="4454">
                <a:solidFill>
                  <a:schemeClr val="tx1">
                    <a:tint val="75000"/>
                  </a:schemeClr>
                </a:solidFill>
              </a:defRPr>
            </a:lvl4pPr>
            <a:lvl5pPr marL="5090465" indent="0">
              <a:buNone/>
              <a:defRPr sz="4454">
                <a:solidFill>
                  <a:schemeClr val="tx1">
                    <a:tint val="75000"/>
                  </a:schemeClr>
                </a:solidFill>
              </a:defRPr>
            </a:lvl5pPr>
            <a:lvl6pPr marL="6363081" indent="0">
              <a:buNone/>
              <a:defRPr sz="4454">
                <a:solidFill>
                  <a:schemeClr val="tx1">
                    <a:tint val="75000"/>
                  </a:schemeClr>
                </a:solidFill>
              </a:defRPr>
            </a:lvl6pPr>
            <a:lvl7pPr marL="7635697" indent="0">
              <a:buNone/>
              <a:defRPr sz="4454">
                <a:solidFill>
                  <a:schemeClr val="tx1">
                    <a:tint val="75000"/>
                  </a:schemeClr>
                </a:solidFill>
              </a:defRPr>
            </a:lvl7pPr>
            <a:lvl8pPr marL="8908313" indent="0">
              <a:buNone/>
              <a:defRPr sz="4454">
                <a:solidFill>
                  <a:schemeClr val="tx1">
                    <a:tint val="75000"/>
                  </a:schemeClr>
                </a:solidFill>
              </a:defRPr>
            </a:lvl8pPr>
            <a:lvl9pPr marL="10180930" indent="0">
              <a:buNone/>
              <a:defRPr sz="445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CF64B-10ED-4442-B8BB-57530B777B26}" type="datetimeFigureOut">
              <a:rPr lang="zh-TW" altLang="en-US" smtClean="0"/>
              <a:t>2026/3/26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373A1-F07D-4FD4-A0D9-E9063B347E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135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49852" y="9583264"/>
            <a:ext cx="10817265" cy="2284150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885271" y="9583264"/>
            <a:ext cx="10817265" cy="2284150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CF64B-10ED-4442-B8BB-57530B777B26}" type="datetimeFigureOut">
              <a:rPr lang="zh-TW" altLang="en-US" smtClean="0"/>
              <a:t>2026/3/26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373A1-F07D-4FD4-A0D9-E9063B347E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811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3167" y="1916661"/>
            <a:ext cx="21952685" cy="695828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3170" y="8824938"/>
            <a:ext cx="10767551" cy="4324966"/>
          </a:xfrm>
        </p:spPr>
        <p:txBody>
          <a:bodyPr anchor="b"/>
          <a:lstStyle>
            <a:lvl1pPr marL="0" indent="0">
              <a:buNone/>
              <a:defRPr sz="6680" b="1"/>
            </a:lvl1pPr>
            <a:lvl2pPr marL="1272616" indent="0">
              <a:buNone/>
              <a:defRPr sz="5567" b="1"/>
            </a:lvl2pPr>
            <a:lvl3pPr marL="2545232" indent="0">
              <a:buNone/>
              <a:defRPr sz="5010" b="1"/>
            </a:lvl3pPr>
            <a:lvl4pPr marL="3817849" indent="0">
              <a:buNone/>
              <a:defRPr sz="4454" b="1"/>
            </a:lvl4pPr>
            <a:lvl5pPr marL="5090465" indent="0">
              <a:buNone/>
              <a:defRPr sz="4454" b="1"/>
            </a:lvl5pPr>
            <a:lvl6pPr marL="6363081" indent="0">
              <a:buNone/>
              <a:defRPr sz="4454" b="1"/>
            </a:lvl6pPr>
            <a:lvl7pPr marL="7635697" indent="0">
              <a:buNone/>
              <a:defRPr sz="4454" b="1"/>
            </a:lvl7pPr>
            <a:lvl8pPr marL="8908313" indent="0">
              <a:buNone/>
              <a:defRPr sz="4454" b="1"/>
            </a:lvl8pPr>
            <a:lvl9pPr marL="10180930" indent="0">
              <a:buNone/>
              <a:defRPr sz="4454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53170" y="13149904"/>
            <a:ext cx="10767551" cy="19341529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885273" y="8824938"/>
            <a:ext cx="10820580" cy="4324966"/>
          </a:xfrm>
        </p:spPr>
        <p:txBody>
          <a:bodyPr anchor="b"/>
          <a:lstStyle>
            <a:lvl1pPr marL="0" indent="0">
              <a:buNone/>
              <a:defRPr sz="6680" b="1"/>
            </a:lvl1pPr>
            <a:lvl2pPr marL="1272616" indent="0">
              <a:buNone/>
              <a:defRPr sz="5567" b="1"/>
            </a:lvl2pPr>
            <a:lvl3pPr marL="2545232" indent="0">
              <a:buNone/>
              <a:defRPr sz="5010" b="1"/>
            </a:lvl3pPr>
            <a:lvl4pPr marL="3817849" indent="0">
              <a:buNone/>
              <a:defRPr sz="4454" b="1"/>
            </a:lvl4pPr>
            <a:lvl5pPr marL="5090465" indent="0">
              <a:buNone/>
              <a:defRPr sz="4454" b="1"/>
            </a:lvl5pPr>
            <a:lvl6pPr marL="6363081" indent="0">
              <a:buNone/>
              <a:defRPr sz="4454" b="1"/>
            </a:lvl6pPr>
            <a:lvl7pPr marL="7635697" indent="0">
              <a:buNone/>
              <a:defRPr sz="4454" b="1"/>
            </a:lvl7pPr>
            <a:lvl8pPr marL="8908313" indent="0">
              <a:buNone/>
              <a:defRPr sz="4454" b="1"/>
            </a:lvl8pPr>
            <a:lvl9pPr marL="10180930" indent="0">
              <a:buNone/>
              <a:defRPr sz="4454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885273" y="13149904"/>
            <a:ext cx="10820580" cy="19341529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CF64B-10ED-4442-B8BB-57530B777B26}" type="datetimeFigureOut">
              <a:rPr lang="zh-TW" altLang="en-US" smtClean="0"/>
              <a:t>2026/3/26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373A1-F07D-4FD4-A0D9-E9063B347E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9459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CF64B-10ED-4442-B8BB-57530B777B26}" type="datetimeFigureOut">
              <a:rPr lang="zh-TW" altLang="en-US" smtClean="0"/>
              <a:t>2026/3/26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373A1-F07D-4FD4-A0D9-E9063B347E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4271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CF64B-10ED-4442-B8BB-57530B777B26}" type="datetimeFigureOut">
              <a:rPr lang="zh-TW" altLang="en-US" smtClean="0"/>
              <a:t>2026/3/26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373A1-F07D-4FD4-A0D9-E9063B347E4C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25492298" cy="35999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902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3167" y="2399982"/>
            <a:ext cx="8209058" cy="8399939"/>
          </a:xfrm>
        </p:spPr>
        <p:txBody>
          <a:bodyPr anchor="b"/>
          <a:lstStyle>
            <a:lvl1pPr>
              <a:defRPr sz="8907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20580" y="5183304"/>
            <a:ext cx="12885271" cy="25583147"/>
          </a:xfrm>
        </p:spPr>
        <p:txBody>
          <a:bodyPr/>
          <a:lstStyle>
            <a:lvl1pPr>
              <a:defRPr sz="8907"/>
            </a:lvl1pPr>
            <a:lvl2pPr>
              <a:defRPr sz="7794"/>
            </a:lvl2pPr>
            <a:lvl3pPr>
              <a:defRPr sz="6680"/>
            </a:lvl3pPr>
            <a:lvl4pPr>
              <a:defRPr sz="5567"/>
            </a:lvl4pPr>
            <a:lvl5pPr>
              <a:defRPr sz="5567"/>
            </a:lvl5pPr>
            <a:lvl6pPr>
              <a:defRPr sz="5567"/>
            </a:lvl6pPr>
            <a:lvl7pPr>
              <a:defRPr sz="5567"/>
            </a:lvl7pPr>
            <a:lvl8pPr>
              <a:defRPr sz="5567"/>
            </a:lvl8pPr>
            <a:lvl9pPr>
              <a:defRPr sz="5567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53167" y="10799922"/>
            <a:ext cx="8209058" cy="20008190"/>
          </a:xfrm>
        </p:spPr>
        <p:txBody>
          <a:bodyPr/>
          <a:lstStyle>
            <a:lvl1pPr marL="0" indent="0">
              <a:buNone/>
              <a:defRPr sz="4454"/>
            </a:lvl1pPr>
            <a:lvl2pPr marL="1272616" indent="0">
              <a:buNone/>
              <a:defRPr sz="3897"/>
            </a:lvl2pPr>
            <a:lvl3pPr marL="2545232" indent="0">
              <a:buNone/>
              <a:defRPr sz="3340"/>
            </a:lvl3pPr>
            <a:lvl4pPr marL="3817849" indent="0">
              <a:buNone/>
              <a:defRPr sz="2784"/>
            </a:lvl4pPr>
            <a:lvl5pPr marL="5090465" indent="0">
              <a:buNone/>
              <a:defRPr sz="2784"/>
            </a:lvl5pPr>
            <a:lvl6pPr marL="6363081" indent="0">
              <a:buNone/>
              <a:defRPr sz="2784"/>
            </a:lvl6pPr>
            <a:lvl7pPr marL="7635697" indent="0">
              <a:buNone/>
              <a:defRPr sz="2784"/>
            </a:lvl7pPr>
            <a:lvl8pPr marL="8908313" indent="0">
              <a:buNone/>
              <a:defRPr sz="2784"/>
            </a:lvl8pPr>
            <a:lvl9pPr marL="10180930" indent="0">
              <a:buNone/>
              <a:defRPr sz="2784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CF64B-10ED-4442-B8BB-57530B777B26}" type="datetimeFigureOut">
              <a:rPr lang="zh-TW" altLang="en-US" smtClean="0"/>
              <a:t>2026/3/26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373A1-F07D-4FD4-A0D9-E9063B347E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7205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3167" y="2399982"/>
            <a:ext cx="8209058" cy="8399939"/>
          </a:xfrm>
        </p:spPr>
        <p:txBody>
          <a:bodyPr anchor="b"/>
          <a:lstStyle>
            <a:lvl1pPr>
              <a:defRPr sz="8907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820580" y="5183304"/>
            <a:ext cx="12885271" cy="25583147"/>
          </a:xfrm>
        </p:spPr>
        <p:txBody>
          <a:bodyPr anchor="t"/>
          <a:lstStyle>
            <a:lvl1pPr marL="0" indent="0">
              <a:buNone/>
              <a:defRPr sz="8907"/>
            </a:lvl1pPr>
            <a:lvl2pPr marL="1272616" indent="0">
              <a:buNone/>
              <a:defRPr sz="7794"/>
            </a:lvl2pPr>
            <a:lvl3pPr marL="2545232" indent="0">
              <a:buNone/>
              <a:defRPr sz="6680"/>
            </a:lvl3pPr>
            <a:lvl4pPr marL="3817849" indent="0">
              <a:buNone/>
              <a:defRPr sz="5567"/>
            </a:lvl4pPr>
            <a:lvl5pPr marL="5090465" indent="0">
              <a:buNone/>
              <a:defRPr sz="5567"/>
            </a:lvl5pPr>
            <a:lvl6pPr marL="6363081" indent="0">
              <a:buNone/>
              <a:defRPr sz="5567"/>
            </a:lvl6pPr>
            <a:lvl7pPr marL="7635697" indent="0">
              <a:buNone/>
              <a:defRPr sz="5567"/>
            </a:lvl7pPr>
            <a:lvl8pPr marL="8908313" indent="0">
              <a:buNone/>
              <a:defRPr sz="5567"/>
            </a:lvl8pPr>
            <a:lvl9pPr marL="10180930" indent="0">
              <a:buNone/>
              <a:defRPr sz="5567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53167" y="10799922"/>
            <a:ext cx="8209058" cy="20008190"/>
          </a:xfrm>
        </p:spPr>
        <p:txBody>
          <a:bodyPr/>
          <a:lstStyle>
            <a:lvl1pPr marL="0" indent="0">
              <a:buNone/>
              <a:defRPr sz="4454"/>
            </a:lvl1pPr>
            <a:lvl2pPr marL="1272616" indent="0">
              <a:buNone/>
              <a:defRPr sz="3897"/>
            </a:lvl2pPr>
            <a:lvl3pPr marL="2545232" indent="0">
              <a:buNone/>
              <a:defRPr sz="3340"/>
            </a:lvl3pPr>
            <a:lvl4pPr marL="3817849" indent="0">
              <a:buNone/>
              <a:defRPr sz="2784"/>
            </a:lvl4pPr>
            <a:lvl5pPr marL="5090465" indent="0">
              <a:buNone/>
              <a:defRPr sz="2784"/>
            </a:lvl5pPr>
            <a:lvl6pPr marL="6363081" indent="0">
              <a:buNone/>
              <a:defRPr sz="2784"/>
            </a:lvl6pPr>
            <a:lvl7pPr marL="7635697" indent="0">
              <a:buNone/>
              <a:defRPr sz="2784"/>
            </a:lvl7pPr>
            <a:lvl8pPr marL="8908313" indent="0">
              <a:buNone/>
              <a:defRPr sz="2784"/>
            </a:lvl8pPr>
            <a:lvl9pPr marL="10180930" indent="0">
              <a:buNone/>
              <a:defRPr sz="2784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CF64B-10ED-4442-B8BB-57530B777B26}" type="datetimeFigureOut">
              <a:rPr lang="zh-TW" altLang="en-US" smtClean="0"/>
              <a:t>2026/3/26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373A1-F07D-4FD4-A0D9-E9063B347E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9426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CF64B-10ED-4442-B8BB-57530B777B26}" type="datetimeFigureOut">
              <a:rPr lang="zh-TW" altLang="en-US" smtClean="0"/>
              <a:t>2026/3/26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373A1-F07D-4FD4-A0D9-E9063B347E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1267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8214367" y="1916653"/>
            <a:ext cx="5488171" cy="3050811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49853" y="1916653"/>
            <a:ext cx="16146359" cy="30508114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CF64B-10ED-4442-B8BB-57530B777B26}" type="datetimeFigureOut">
              <a:rPr lang="zh-TW" altLang="en-US" smtClean="0"/>
              <a:t>2026/3/26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373A1-F07D-4FD4-A0D9-E9063B347E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5344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49852" y="1916661"/>
            <a:ext cx="21952685" cy="69582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49852" y="9583264"/>
            <a:ext cx="21952685" cy="22841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749852" y="33366432"/>
            <a:ext cx="5726787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3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BCF64B-10ED-4442-B8BB-57530B777B26}" type="datetimeFigureOut">
              <a:rPr lang="zh-TW" altLang="en-US" smtClean="0"/>
              <a:t>2026/3/26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431104" y="33366432"/>
            <a:ext cx="8590181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3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975749" y="33366432"/>
            <a:ext cx="5726787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3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373A1-F07D-4FD4-A0D9-E9063B347E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101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545232" rtl="0" eaLnBrk="1" latinLnBrk="0" hangingPunct="1">
        <a:lnSpc>
          <a:spcPct val="90000"/>
        </a:lnSpc>
        <a:spcBef>
          <a:spcPct val="0"/>
        </a:spcBef>
        <a:buNone/>
        <a:defRPr sz="1224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36308" indent="-636308" algn="l" defTabSz="2545232" rtl="0" eaLnBrk="1" latinLnBrk="0" hangingPunct="1">
        <a:lnSpc>
          <a:spcPct val="90000"/>
        </a:lnSpc>
        <a:spcBef>
          <a:spcPts val="2784"/>
        </a:spcBef>
        <a:buFont typeface="Arial" panose="020B0604020202020204" pitchFamily="34" charset="0"/>
        <a:buChar char="•"/>
        <a:defRPr sz="7794" kern="1200">
          <a:solidFill>
            <a:schemeClr val="tx1"/>
          </a:solidFill>
          <a:latin typeface="+mn-lt"/>
          <a:ea typeface="+mn-ea"/>
          <a:cs typeface="+mn-cs"/>
        </a:defRPr>
      </a:lvl1pPr>
      <a:lvl2pPr marL="1908924" indent="-636308" algn="l" defTabSz="2545232" rtl="0" eaLnBrk="1" latinLnBrk="0" hangingPunct="1">
        <a:lnSpc>
          <a:spcPct val="90000"/>
        </a:lnSpc>
        <a:spcBef>
          <a:spcPts val="1392"/>
        </a:spcBef>
        <a:buFont typeface="Arial" panose="020B0604020202020204" pitchFamily="34" charset="0"/>
        <a:buChar char="•"/>
        <a:defRPr sz="6680" kern="1200">
          <a:solidFill>
            <a:schemeClr val="tx1"/>
          </a:solidFill>
          <a:latin typeface="+mn-lt"/>
          <a:ea typeface="+mn-ea"/>
          <a:cs typeface="+mn-cs"/>
        </a:defRPr>
      </a:lvl2pPr>
      <a:lvl3pPr marL="3181541" indent="-636308" algn="l" defTabSz="2545232" rtl="0" eaLnBrk="1" latinLnBrk="0" hangingPunct="1">
        <a:lnSpc>
          <a:spcPct val="90000"/>
        </a:lnSpc>
        <a:spcBef>
          <a:spcPts val="1392"/>
        </a:spcBef>
        <a:buFont typeface="Arial" panose="020B0604020202020204" pitchFamily="34" charset="0"/>
        <a:buChar char="•"/>
        <a:defRPr sz="5567" kern="1200">
          <a:solidFill>
            <a:schemeClr val="tx1"/>
          </a:solidFill>
          <a:latin typeface="+mn-lt"/>
          <a:ea typeface="+mn-ea"/>
          <a:cs typeface="+mn-cs"/>
        </a:defRPr>
      </a:lvl3pPr>
      <a:lvl4pPr marL="4454157" indent="-636308" algn="l" defTabSz="2545232" rtl="0" eaLnBrk="1" latinLnBrk="0" hangingPunct="1">
        <a:lnSpc>
          <a:spcPct val="90000"/>
        </a:lnSpc>
        <a:spcBef>
          <a:spcPts val="1392"/>
        </a:spcBef>
        <a:buFont typeface="Arial" panose="020B0604020202020204" pitchFamily="34" charset="0"/>
        <a:buChar char="•"/>
        <a:defRPr sz="5010" kern="1200">
          <a:solidFill>
            <a:schemeClr val="tx1"/>
          </a:solidFill>
          <a:latin typeface="+mn-lt"/>
          <a:ea typeface="+mn-ea"/>
          <a:cs typeface="+mn-cs"/>
        </a:defRPr>
      </a:lvl4pPr>
      <a:lvl5pPr marL="5726773" indent="-636308" algn="l" defTabSz="2545232" rtl="0" eaLnBrk="1" latinLnBrk="0" hangingPunct="1">
        <a:lnSpc>
          <a:spcPct val="90000"/>
        </a:lnSpc>
        <a:spcBef>
          <a:spcPts val="1392"/>
        </a:spcBef>
        <a:buFont typeface="Arial" panose="020B0604020202020204" pitchFamily="34" charset="0"/>
        <a:buChar char="•"/>
        <a:defRPr sz="5010" kern="1200">
          <a:solidFill>
            <a:schemeClr val="tx1"/>
          </a:solidFill>
          <a:latin typeface="+mn-lt"/>
          <a:ea typeface="+mn-ea"/>
          <a:cs typeface="+mn-cs"/>
        </a:defRPr>
      </a:lvl5pPr>
      <a:lvl6pPr marL="6999389" indent="-636308" algn="l" defTabSz="2545232" rtl="0" eaLnBrk="1" latinLnBrk="0" hangingPunct="1">
        <a:lnSpc>
          <a:spcPct val="90000"/>
        </a:lnSpc>
        <a:spcBef>
          <a:spcPts val="1392"/>
        </a:spcBef>
        <a:buFont typeface="Arial" panose="020B0604020202020204" pitchFamily="34" charset="0"/>
        <a:buChar char="•"/>
        <a:defRPr sz="5010" kern="1200">
          <a:solidFill>
            <a:schemeClr val="tx1"/>
          </a:solidFill>
          <a:latin typeface="+mn-lt"/>
          <a:ea typeface="+mn-ea"/>
          <a:cs typeface="+mn-cs"/>
        </a:defRPr>
      </a:lvl6pPr>
      <a:lvl7pPr marL="8272005" indent="-636308" algn="l" defTabSz="2545232" rtl="0" eaLnBrk="1" latinLnBrk="0" hangingPunct="1">
        <a:lnSpc>
          <a:spcPct val="90000"/>
        </a:lnSpc>
        <a:spcBef>
          <a:spcPts val="1392"/>
        </a:spcBef>
        <a:buFont typeface="Arial" panose="020B0604020202020204" pitchFamily="34" charset="0"/>
        <a:buChar char="•"/>
        <a:defRPr sz="5010" kern="1200">
          <a:solidFill>
            <a:schemeClr val="tx1"/>
          </a:solidFill>
          <a:latin typeface="+mn-lt"/>
          <a:ea typeface="+mn-ea"/>
          <a:cs typeface="+mn-cs"/>
        </a:defRPr>
      </a:lvl7pPr>
      <a:lvl8pPr marL="9544622" indent="-636308" algn="l" defTabSz="2545232" rtl="0" eaLnBrk="1" latinLnBrk="0" hangingPunct="1">
        <a:lnSpc>
          <a:spcPct val="90000"/>
        </a:lnSpc>
        <a:spcBef>
          <a:spcPts val="1392"/>
        </a:spcBef>
        <a:buFont typeface="Arial" panose="020B0604020202020204" pitchFamily="34" charset="0"/>
        <a:buChar char="•"/>
        <a:defRPr sz="5010" kern="1200">
          <a:solidFill>
            <a:schemeClr val="tx1"/>
          </a:solidFill>
          <a:latin typeface="+mn-lt"/>
          <a:ea typeface="+mn-ea"/>
          <a:cs typeface="+mn-cs"/>
        </a:defRPr>
      </a:lvl8pPr>
      <a:lvl9pPr marL="10817238" indent="-636308" algn="l" defTabSz="2545232" rtl="0" eaLnBrk="1" latinLnBrk="0" hangingPunct="1">
        <a:lnSpc>
          <a:spcPct val="90000"/>
        </a:lnSpc>
        <a:spcBef>
          <a:spcPts val="1392"/>
        </a:spcBef>
        <a:buFont typeface="Arial" panose="020B0604020202020204" pitchFamily="34" charset="0"/>
        <a:buChar char="•"/>
        <a:defRPr sz="50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45232" rtl="0" eaLnBrk="1" latinLnBrk="0" hangingPunct="1">
        <a:defRPr sz="5010" kern="1200">
          <a:solidFill>
            <a:schemeClr val="tx1"/>
          </a:solidFill>
          <a:latin typeface="+mn-lt"/>
          <a:ea typeface="+mn-ea"/>
          <a:cs typeface="+mn-cs"/>
        </a:defRPr>
      </a:lvl1pPr>
      <a:lvl2pPr marL="1272616" algn="l" defTabSz="2545232" rtl="0" eaLnBrk="1" latinLnBrk="0" hangingPunct="1">
        <a:defRPr sz="5010" kern="1200">
          <a:solidFill>
            <a:schemeClr val="tx1"/>
          </a:solidFill>
          <a:latin typeface="+mn-lt"/>
          <a:ea typeface="+mn-ea"/>
          <a:cs typeface="+mn-cs"/>
        </a:defRPr>
      </a:lvl2pPr>
      <a:lvl3pPr marL="2545232" algn="l" defTabSz="2545232" rtl="0" eaLnBrk="1" latinLnBrk="0" hangingPunct="1">
        <a:defRPr sz="5010" kern="1200">
          <a:solidFill>
            <a:schemeClr val="tx1"/>
          </a:solidFill>
          <a:latin typeface="+mn-lt"/>
          <a:ea typeface="+mn-ea"/>
          <a:cs typeface="+mn-cs"/>
        </a:defRPr>
      </a:lvl3pPr>
      <a:lvl4pPr marL="3817849" algn="l" defTabSz="2545232" rtl="0" eaLnBrk="1" latinLnBrk="0" hangingPunct="1">
        <a:defRPr sz="5010" kern="1200">
          <a:solidFill>
            <a:schemeClr val="tx1"/>
          </a:solidFill>
          <a:latin typeface="+mn-lt"/>
          <a:ea typeface="+mn-ea"/>
          <a:cs typeface="+mn-cs"/>
        </a:defRPr>
      </a:lvl4pPr>
      <a:lvl5pPr marL="5090465" algn="l" defTabSz="2545232" rtl="0" eaLnBrk="1" latinLnBrk="0" hangingPunct="1">
        <a:defRPr sz="5010" kern="1200">
          <a:solidFill>
            <a:schemeClr val="tx1"/>
          </a:solidFill>
          <a:latin typeface="+mn-lt"/>
          <a:ea typeface="+mn-ea"/>
          <a:cs typeface="+mn-cs"/>
        </a:defRPr>
      </a:lvl5pPr>
      <a:lvl6pPr marL="6363081" algn="l" defTabSz="2545232" rtl="0" eaLnBrk="1" latinLnBrk="0" hangingPunct="1">
        <a:defRPr sz="5010" kern="1200">
          <a:solidFill>
            <a:schemeClr val="tx1"/>
          </a:solidFill>
          <a:latin typeface="+mn-lt"/>
          <a:ea typeface="+mn-ea"/>
          <a:cs typeface="+mn-cs"/>
        </a:defRPr>
      </a:lvl6pPr>
      <a:lvl7pPr marL="7635697" algn="l" defTabSz="2545232" rtl="0" eaLnBrk="1" latinLnBrk="0" hangingPunct="1">
        <a:defRPr sz="5010" kern="1200">
          <a:solidFill>
            <a:schemeClr val="tx1"/>
          </a:solidFill>
          <a:latin typeface="+mn-lt"/>
          <a:ea typeface="+mn-ea"/>
          <a:cs typeface="+mn-cs"/>
        </a:defRPr>
      </a:lvl7pPr>
      <a:lvl8pPr marL="8908313" algn="l" defTabSz="2545232" rtl="0" eaLnBrk="1" latinLnBrk="0" hangingPunct="1">
        <a:defRPr sz="5010" kern="1200">
          <a:solidFill>
            <a:schemeClr val="tx1"/>
          </a:solidFill>
          <a:latin typeface="+mn-lt"/>
          <a:ea typeface="+mn-ea"/>
          <a:cs typeface="+mn-cs"/>
        </a:defRPr>
      </a:lvl8pPr>
      <a:lvl9pPr marL="10180930" algn="l" defTabSz="2545232" rtl="0" eaLnBrk="1" latinLnBrk="0" hangingPunct="1">
        <a:defRPr sz="501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 flipH="1">
            <a:off x="3449953" y="1060584"/>
            <a:ext cx="1379221" cy="1323439"/>
          </a:xfrm>
          <a:prstGeom prst="rect">
            <a:avLst/>
          </a:prstGeom>
          <a:solidFill>
            <a:srgbClr val="D5EAD8"/>
          </a:solidFill>
        </p:spPr>
        <p:txBody>
          <a:bodyPr wrap="square" rtlCol="0">
            <a:spAutoFit/>
          </a:bodyPr>
          <a:lstStyle/>
          <a:p>
            <a:r>
              <a:rPr lang="en-US" altLang="zh-TW" sz="8000" i="1" dirty="0">
                <a:ln w="12700">
                  <a:solidFill>
                    <a:srgbClr val="E50012"/>
                  </a:solidFill>
                </a:ln>
                <a:solidFill>
                  <a:srgbClr val="E50012"/>
                </a:solidFill>
                <a:effectLst>
                  <a:glow rad="127000">
                    <a:schemeClr val="bg1"/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21</a:t>
            </a:r>
          </a:p>
        </p:txBody>
      </p:sp>
      <p:sp>
        <p:nvSpPr>
          <p:cNvPr id="6" name="文字方塊 5"/>
          <p:cNvSpPr txBox="1"/>
          <p:nvPr/>
        </p:nvSpPr>
        <p:spPr>
          <a:xfrm flipH="1">
            <a:off x="7412352" y="3890010"/>
            <a:ext cx="1426848" cy="830997"/>
          </a:xfrm>
          <a:prstGeom prst="rect">
            <a:avLst/>
          </a:prstGeom>
          <a:solidFill>
            <a:srgbClr val="D5EAD8"/>
          </a:solidFill>
        </p:spPr>
        <p:txBody>
          <a:bodyPr wrap="square" rtlCol="0">
            <a:spAutoFit/>
          </a:bodyPr>
          <a:lstStyle/>
          <a:p>
            <a:r>
              <a:rPr lang="en-US" altLang="zh-TW" sz="4800" i="1" dirty="0">
                <a:ln w="12700">
                  <a:solidFill>
                    <a:srgbClr val="E40082"/>
                  </a:solidFill>
                </a:ln>
                <a:solidFill>
                  <a:srgbClr val="E40082"/>
                </a:solidFill>
                <a:effectLst>
                  <a:glow rad="101600">
                    <a:schemeClr val="bg1"/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21th</a:t>
            </a:r>
            <a:endParaRPr lang="zh-TW" altLang="en-US" sz="4800" i="1" dirty="0">
              <a:ln w="12700">
                <a:solidFill>
                  <a:srgbClr val="E40082"/>
                </a:solidFill>
              </a:ln>
              <a:solidFill>
                <a:srgbClr val="E40082"/>
              </a:solidFill>
              <a:effectLst>
                <a:glow rad="101600">
                  <a:schemeClr val="bg1"/>
                </a:glo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八邊形 6">
            <a:extLst>
              <a:ext uri="{FF2B5EF4-FFF2-40B4-BE49-F238E27FC236}">
                <a16:creationId xmlns:a16="http://schemas.microsoft.com/office/drawing/2014/main" id="{38B04CB5-F9B9-EC40-961C-3D4400C3313D}"/>
              </a:ext>
            </a:extLst>
          </p:cNvPr>
          <p:cNvSpPr/>
          <p:nvPr/>
        </p:nvSpPr>
        <p:spPr>
          <a:xfrm>
            <a:off x="2371010" y="7083752"/>
            <a:ext cx="20710367" cy="2941320"/>
          </a:xfrm>
          <a:prstGeom prst="octagon">
            <a:avLst/>
          </a:prstGeom>
          <a:solidFill>
            <a:srgbClr val="D1E6B8"/>
          </a:solidFill>
          <a:ln w="114300" cmpd="thickThin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5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健康氣味雷達 </a:t>
            </a:r>
            <a:r>
              <a:rPr lang="en-US" altLang="zh-TW" sz="5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: </a:t>
            </a:r>
            <a:r>
              <a:rPr lang="zh-TW" altLang="en-US" sz="5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非侵入式病理檢測方案 </a:t>
            </a:r>
            <a:endParaRPr lang="en-US" altLang="zh-TW" sz="54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en-US" altLang="zh-TW" sz="5400" dirty="0">
                <a:solidFill>
                  <a:schemeClr val="tx1"/>
                </a:solidFill>
                <a:latin typeface="STLiti" panose="02010800040101010101" pitchFamily="2" charset="-122"/>
                <a:ea typeface="STLiti" panose="02010800040101010101" pitchFamily="2" charset="-122"/>
              </a:rPr>
              <a:t>Health Odor Radar: A Non-Invasive Solution for </a:t>
            </a:r>
          </a:p>
          <a:p>
            <a:pPr algn="ctr"/>
            <a:r>
              <a:rPr lang="en-US" altLang="zh-TW" sz="5400" dirty="0">
                <a:solidFill>
                  <a:schemeClr val="tx1"/>
                </a:solidFill>
                <a:latin typeface="STLiti" panose="02010800040101010101" pitchFamily="2" charset="-122"/>
                <a:ea typeface="STLiti" panose="02010800040101010101" pitchFamily="2" charset="-122"/>
              </a:rPr>
              <a:t>Pathological Condition Screening</a:t>
            </a:r>
            <a:endParaRPr lang="zh-TW" altLang="en-US" sz="5400" dirty="0">
              <a:solidFill>
                <a:schemeClr val="tx1"/>
              </a:solidFill>
              <a:latin typeface="STLiti" panose="02010800040101010101" pitchFamily="2" charset="-122"/>
              <a:ea typeface="STLiti" panose="02010800040101010101" pitchFamily="2" charset="-122"/>
            </a:endParaRPr>
          </a:p>
        </p:txBody>
      </p:sp>
      <p:sp>
        <p:nvSpPr>
          <p:cNvPr id="8" name="八邊形 7">
            <a:extLst>
              <a:ext uri="{FF2B5EF4-FFF2-40B4-BE49-F238E27FC236}">
                <a16:creationId xmlns:a16="http://schemas.microsoft.com/office/drawing/2014/main" id="{C0988547-ECD7-6965-C9A7-F9CA06554CD8}"/>
              </a:ext>
            </a:extLst>
          </p:cNvPr>
          <p:cNvSpPr/>
          <p:nvPr/>
        </p:nvSpPr>
        <p:spPr>
          <a:xfrm>
            <a:off x="2371010" y="15255549"/>
            <a:ext cx="20710367" cy="10800391"/>
          </a:xfrm>
          <a:prstGeom prst="octagon">
            <a:avLst>
              <a:gd name="adj" fmla="val 8022"/>
            </a:avLst>
          </a:prstGeom>
          <a:solidFill>
            <a:srgbClr val="D1E6B8"/>
          </a:solidFill>
          <a:ln w="114300" cmpd="thickThin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八邊形 8">
            <a:extLst>
              <a:ext uri="{FF2B5EF4-FFF2-40B4-BE49-F238E27FC236}">
                <a16:creationId xmlns:a16="http://schemas.microsoft.com/office/drawing/2014/main" id="{568B649E-0A64-0BFD-FE49-91D10B2EF7A1}"/>
              </a:ext>
            </a:extLst>
          </p:cNvPr>
          <p:cNvSpPr/>
          <p:nvPr/>
        </p:nvSpPr>
        <p:spPr>
          <a:xfrm>
            <a:off x="2355732" y="27287765"/>
            <a:ext cx="9912431" cy="6910491"/>
          </a:xfrm>
          <a:prstGeom prst="octagon">
            <a:avLst>
              <a:gd name="adj" fmla="val 8776"/>
            </a:avLst>
          </a:prstGeom>
          <a:solidFill>
            <a:srgbClr val="D1E6B8"/>
          </a:solidFill>
          <a:ln w="114300" cmpd="thickThin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八邊形 9">
            <a:extLst>
              <a:ext uri="{FF2B5EF4-FFF2-40B4-BE49-F238E27FC236}">
                <a16:creationId xmlns:a16="http://schemas.microsoft.com/office/drawing/2014/main" id="{C0A27968-B587-DEE9-5C97-7487EC674820}"/>
              </a:ext>
            </a:extLst>
          </p:cNvPr>
          <p:cNvSpPr/>
          <p:nvPr/>
        </p:nvSpPr>
        <p:spPr>
          <a:xfrm>
            <a:off x="2371010" y="11251892"/>
            <a:ext cx="20710367" cy="2941320"/>
          </a:xfrm>
          <a:prstGeom prst="octagon">
            <a:avLst/>
          </a:prstGeom>
          <a:solidFill>
            <a:srgbClr val="D1E6B8"/>
          </a:solidFill>
          <a:ln w="114300" cmpd="thickThin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rIns="252000" rtlCol="0" anchor="ctr"/>
          <a:lstStyle/>
          <a:p>
            <a:r>
              <a:rPr lang="zh-TW" altLang="en-US" sz="36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   本作品旨在開發基於人工智慧電子鼻的非侵入式健康檢測原型系統。系統以 </a:t>
            </a:r>
            <a:r>
              <a:rPr lang="en-US" altLang="zh-TW" sz="3600" dirty="0" err="1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BMduino</a:t>
            </a:r>
            <a:r>
              <a:rPr lang="en-US" altLang="zh-TW" sz="36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sz="36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為核心，驅動多通道氣體感測 器陣列，模擬人類的嗅覺感知。透過採集並分析人體代謝產生的揮發性有機化合物之「氣味指紋」，本系統能有效 辨識特定病理狀態的標誌性氣體。</a:t>
            </a:r>
          </a:p>
        </p:txBody>
      </p:sp>
      <p:sp>
        <p:nvSpPr>
          <p:cNvPr id="12" name="六邊形 11">
            <a:extLst>
              <a:ext uri="{FF2B5EF4-FFF2-40B4-BE49-F238E27FC236}">
                <a16:creationId xmlns:a16="http://schemas.microsoft.com/office/drawing/2014/main" id="{97FC22F9-3B2E-6481-36C2-A48E55B84C5B}"/>
              </a:ext>
            </a:extLst>
          </p:cNvPr>
          <p:cNvSpPr/>
          <p:nvPr/>
        </p:nvSpPr>
        <p:spPr>
          <a:xfrm>
            <a:off x="3245285" y="10730500"/>
            <a:ext cx="2993471" cy="1042783"/>
          </a:xfrm>
          <a:prstGeom prst="hexagon">
            <a:avLst/>
          </a:prstGeom>
          <a:solidFill>
            <a:srgbClr val="D1E6B8"/>
          </a:solidFill>
          <a:ln w="114300" cmpd="thickThin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/>
            <a:r>
              <a:rPr lang="zh-TW" altLang="en-US" sz="4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摘要</a:t>
            </a:r>
          </a:p>
        </p:txBody>
      </p:sp>
      <p:sp>
        <p:nvSpPr>
          <p:cNvPr id="13" name="八邊形 12">
            <a:extLst>
              <a:ext uri="{FF2B5EF4-FFF2-40B4-BE49-F238E27FC236}">
                <a16:creationId xmlns:a16="http://schemas.microsoft.com/office/drawing/2014/main" id="{D912D7A9-EAB3-B570-3C9E-E44E8D8EF338}"/>
              </a:ext>
            </a:extLst>
          </p:cNvPr>
          <p:cNvSpPr/>
          <p:nvPr/>
        </p:nvSpPr>
        <p:spPr>
          <a:xfrm>
            <a:off x="13109182" y="27173660"/>
            <a:ext cx="9912431" cy="6910492"/>
          </a:xfrm>
          <a:prstGeom prst="octagon">
            <a:avLst>
              <a:gd name="adj" fmla="val 8437"/>
            </a:avLst>
          </a:prstGeom>
          <a:solidFill>
            <a:srgbClr val="D1E6B8"/>
          </a:solidFill>
          <a:ln w="114300" cmpd="thickThin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六邊形 13">
            <a:extLst>
              <a:ext uri="{FF2B5EF4-FFF2-40B4-BE49-F238E27FC236}">
                <a16:creationId xmlns:a16="http://schemas.microsoft.com/office/drawing/2014/main" id="{C60A725B-278C-7D8E-4AF7-279809AF0455}"/>
              </a:ext>
            </a:extLst>
          </p:cNvPr>
          <p:cNvSpPr/>
          <p:nvPr/>
        </p:nvSpPr>
        <p:spPr>
          <a:xfrm>
            <a:off x="2983320" y="26746517"/>
            <a:ext cx="2993471" cy="1042783"/>
          </a:xfrm>
          <a:prstGeom prst="hexagon">
            <a:avLst/>
          </a:prstGeom>
          <a:solidFill>
            <a:srgbClr val="D1E6B8"/>
          </a:solidFill>
          <a:ln w="114300" cmpd="thickThin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/>
            <a:r>
              <a:rPr lang="zh-TW" altLang="en-US" sz="36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系統架構</a:t>
            </a:r>
          </a:p>
        </p:txBody>
      </p:sp>
      <p:sp>
        <p:nvSpPr>
          <p:cNvPr id="15" name="六邊形 14">
            <a:extLst>
              <a:ext uri="{FF2B5EF4-FFF2-40B4-BE49-F238E27FC236}">
                <a16:creationId xmlns:a16="http://schemas.microsoft.com/office/drawing/2014/main" id="{3A5BC415-2AC6-25A5-4B23-A4A9CB1A9201}"/>
              </a:ext>
            </a:extLst>
          </p:cNvPr>
          <p:cNvSpPr/>
          <p:nvPr/>
        </p:nvSpPr>
        <p:spPr>
          <a:xfrm>
            <a:off x="13720803" y="26655483"/>
            <a:ext cx="2993471" cy="1042783"/>
          </a:xfrm>
          <a:prstGeom prst="hexagon">
            <a:avLst/>
          </a:prstGeom>
          <a:solidFill>
            <a:srgbClr val="D1E6B8"/>
          </a:solidFill>
          <a:ln w="114300" cmpd="thickThin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/>
            <a:r>
              <a:rPr lang="zh-TW" altLang="en-US" sz="36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未來展望</a:t>
            </a:r>
          </a:p>
        </p:txBody>
      </p:sp>
      <p:sp>
        <p:nvSpPr>
          <p:cNvPr id="16" name="六邊形 15">
            <a:extLst>
              <a:ext uri="{FF2B5EF4-FFF2-40B4-BE49-F238E27FC236}">
                <a16:creationId xmlns:a16="http://schemas.microsoft.com/office/drawing/2014/main" id="{734017A8-648A-EEFB-13DC-F5EEAA0FEF37}"/>
              </a:ext>
            </a:extLst>
          </p:cNvPr>
          <p:cNvSpPr/>
          <p:nvPr/>
        </p:nvSpPr>
        <p:spPr>
          <a:xfrm>
            <a:off x="3245285" y="14734158"/>
            <a:ext cx="2993471" cy="1042783"/>
          </a:xfrm>
          <a:prstGeom prst="hexagon">
            <a:avLst/>
          </a:prstGeom>
          <a:solidFill>
            <a:srgbClr val="D1E6B8"/>
          </a:solidFill>
          <a:ln w="114300" cmpd="thickThin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/>
            <a:r>
              <a:rPr lang="zh-TW" altLang="en-US" sz="36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數據分析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44339DEC-2226-30F2-C1D1-13AE6F3C0C76}"/>
              </a:ext>
            </a:extLst>
          </p:cNvPr>
          <p:cNvSpPr txBox="1"/>
          <p:nvPr/>
        </p:nvSpPr>
        <p:spPr>
          <a:xfrm>
            <a:off x="3766323" y="16098318"/>
            <a:ext cx="895987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針對用於呼吸分析的優化型 </a:t>
            </a:r>
            <a:r>
              <a:rPr lang="en-US" altLang="zh-TW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MOS 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感測器，研究結果顯示在低濃度範圍內的典型響應：</a:t>
            </a:r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CCBE5C7F-6309-5C36-3DF7-667700BED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7762" y="17186978"/>
            <a:ext cx="8589648" cy="3625692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79F6CE6B-2D46-AE04-6E28-B9942614BB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6798" y="20947223"/>
            <a:ext cx="8091365" cy="4835798"/>
          </a:xfrm>
          <a:prstGeom prst="rect">
            <a:avLst/>
          </a:prstGeom>
        </p:spPr>
      </p:pic>
      <p:pic>
        <p:nvPicPr>
          <p:cNvPr id="24" name="圖片 23">
            <a:extLst>
              <a:ext uri="{FF2B5EF4-FFF2-40B4-BE49-F238E27FC236}">
                <a16:creationId xmlns:a16="http://schemas.microsoft.com/office/drawing/2014/main" id="{A69A5178-18B5-547B-DA83-E23E907D4E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91091" y="18618663"/>
            <a:ext cx="7149487" cy="6942800"/>
          </a:xfrm>
          <a:prstGeom prst="rect">
            <a:avLst/>
          </a:prstGeom>
        </p:spPr>
      </p:pic>
      <p:sp>
        <p:nvSpPr>
          <p:cNvPr id="25" name="文字方塊 24">
            <a:extLst>
              <a:ext uri="{FF2B5EF4-FFF2-40B4-BE49-F238E27FC236}">
                <a16:creationId xmlns:a16="http://schemas.microsoft.com/office/drawing/2014/main" id="{FF1F9976-A9B2-C5F9-F4F0-D09DFDDE5085}"/>
              </a:ext>
            </a:extLst>
          </p:cNvPr>
          <p:cNvSpPr txBox="1"/>
          <p:nvPr/>
        </p:nvSpPr>
        <p:spPr>
          <a:xfrm>
            <a:off x="13412790" y="16064118"/>
            <a:ext cx="810609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測量材料需加熱，在加熱導致的阻值變化穩定下來後，若接觸到丙酮，材料電導值將會改變，而在電橋電路中與基準端產生電壓差，以此電壓差能轉換至丙酮的濃度 </a:t>
            </a:r>
            <a:r>
              <a:rPr lang="en-US" altLang="zh-TW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( 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經過計算後 </a:t>
            </a:r>
            <a:r>
              <a:rPr lang="en-US" altLang="zh-TW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27" name="圖片 26">
            <a:extLst>
              <a:ext uri="{FF2B5EF4-FFF2-40B4-BE49-F238E27FC236}">
                <a16:creationId xmlns:a16="http://schemas.microsoft.com/office/drawing/2014/main" id="{828CBA4B-3555-6EAA-B2BC-42D297AA26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70196" y="28330549"/>
            <a:ext cx="8977713" cy="5055284"/>
          </a:xfrm>
          <a:prstGeom prst="rect">
            <a:avLst/>
          </a:prstGeom>
        </p:spPr>
      </p:pic>
      <p:sp>
        <p:nvSpPr>
          <p:cNvPr id="28" name="矩形 27">
            <a:extLst>
              <a:ext uri="{FF2B5EF4-FFF2-40B4-BE49-F238E27FC236}">
                <a16:creationId xmlns:a16="http://schemas.microsoft.com/office/drawing/2014/main" id="{7E92EC45-78C3-EF5F-B379-34C2C3EF1DC9}"/>
              </a:ext>
            </a:extLst>
          </p:cNvPr>
          <p:cNvSpPr/>
          <p:nvPr/>
        </p:nvSpPr>
        <p:spPr>
          <a:xfrm>
            <a:off x="9902587" y="32636460"/>
            <a:ext cx="1750469" cy="871220"/>
          </a:xfrm>
          <a:prstGeom prst="rect">
            <a:avLst/>
          </a:prstGeom>
          <a:solidFill>
            <a:srgbClr val="D1E6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1C4EECAC-9667-6582-AF4E-52E52685BF47}"/>
              </a:ext>
            </a:extLst>
          </p:cNvPr>
          <p:cNvSpPr txBox="1"/>
          <p:nvPr/>
        </p:nvSpPr>
        <p:spPr>
          <a:xfrm>
            <a:off x="19976123" y="5022563"/>
            <a:ext cx="34231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7200" dirty="0"/>
              <a:t>C-032</a:t>
            </a:r>
            <a:endParaRPr lang="zh-TW" altLang="en-US" sz="7200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262D72C2-049B-6699-FA16-2FADA95555FF}"/>
              </a:ext>
            </a:extLst>
          </p:cNvPr>
          <p:cNvSpPr txBox="1"/>
          <p:nvPr/>
        </p:nvSpPr>
        <p:spPr>
          <a:xfrm>
            <a:off x="4820754" y="5076470"/>
            <a:ext cx="762665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600" dirty="0"/>
              <a:t>C.</a:t>
            </a:r>
            <a:r>
              <a:rPr lang="zh-TW" altLang="en-US" sz="6600" dirty="0">
                <a:latin typeface="標楷體" panose="03000509000000000000" pitchFamily="65" charset="-120"/>
                <a:ea typeface="標楷體" panose="03000509000000000000" pitchFamily="65" charset="-120"/>
              </a:rPr>
              <a:t>健康照護應用組</a:t>
            </a: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BA026013-C7FD-8D04-95C2-91E0822C4F77}"/>
              </a:ext>
            </a:extLst>
          </p:cNvPr>
          <p:cNvSpPr txBox="1"/>
          <p:nvPr/>
        </p:nvSpPr>
        <p:spPr>
          <a:xfrm>
            <a:off x="13375276" y="28216443"/>
            <a:ext cx="9912431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臨床功能的躍升：診斷到預測性個人化醫療</a:t>
            </a:r>
            <a:r>
              <a:rPr lang="en-US" altLang="zh-TW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:	</a:t>
            </a:r>
            <a:r>
              <a:rPr lang="en-US" altLang="zh-TW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														</a:t>
            </a:r>
          </a:p>
          <a:p>
            <a:pPr lvl="1"/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未來呼氣分析的目標是從靜態的「診斷」轉變為動</a:t>
            </a:r>
            <a:endParaRPr lang="en-US" alt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態的「</a:t>
            </a:r>
            <a:r>
              <a:rPr lang="zh-TW" altLang="en-US" sz="32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預測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」和「</a:t>
            </a:r>
            <a:r>
              <a:rPr lang="zh-TW" altLang="en-US" sz="32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個人化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」治療方案。</a:t>
            </a:r>
            <a:endParaRPr lang="en-US" alt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2900" indent="-342900">
              <a:buAutoNum type="arabicPeriod"/>
            </a:pPr>
            <a:endParaRPr lang="en-US" alt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2900" indent="-342900">
              <a:buAutoNum type="arabicPeriod"/>
            </a:pP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邊緣運算與嵌入式微型人工智慧（</a:t>
            </a:r>
            <a:r>
              <a:rPr lang="en-US" altLang="zh-TW" sz="36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TinyML</a:t>
            </a: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）</a:t>
            </a:r>
            <a:r>
              <a:rPr lang="en-US" altLang="zh-TW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</a:p>
          <a:p>
            <a:endParaRPr lang="en-US" alt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將複雜的</a:t>
            </a:r>
            <a:r>
              <a:rPr lang="zh-TW" altLang="en-US" sz="32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數據處理和分類算法從雲端轉移到設備本</a:t>
            </a:r>
            <a:endParaRPr lang="en-US" altLang="zh-TW" sz="3200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sz="32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身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，實現真正實時、高可靠性和隱私保護的關鍵。</a:t>
            </a:r>
          </a:p>
        </p:txBody>
      </p:sp>
    </p:spTree>
    <p:extLst>
      <p:ext uri="{BB962C8B-B14F-4D97-AF65-F5344CB8AC3E}">
        <p14:creationId xmlns:p14="http://schemas.microsoft.com/office/powerpoint/2010/main" val="40079526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2715503-6C8E-75F1-4D98-CE82CA9CD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八邊形 2">
            <a:extLst>
              <a:ext uri="{FF2B5EF4-FFF2-40B4-BE49-F238E27FC236}">
                <a16:creationId xmlns:a16="http://schemas.microsoft.com/office/drawing/2014/main" id="{4FB54E04-4FD3-3064-4BBA-4A5F03055167}"/>
              </a:ext>
            </a:extLst>
          </p:cNvPr>
          <p:cNvSpPr/>
          <p:nvPr/>
        </p:nvSpPr>
        <p:spPr>
          <a:xfrm>
            <a:off x="2743199" y="26650950"/>
            <a:ext cx="20453685" cy="7432127"/>
          </a:xfrm>
          <a:prstGeom prst="octagon">
            <a:avLst>
              <a:gd name="adj" fmla="val 8437"/>
            </a:avLst>
          </a:prstGeom>
          <a:solidFill>
            <a:srgbClr val="D1E6B8"/>
          </a:solidFill>
          <a:ln w="114300" cmpd="thickThin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633162AB-A6C2-B31C-43C4-871D5B709967}"/>
              </a:ext>
            </a:extLst>
          </p:cNvPr>
          <p:cNvSpPr txBox="1"/>
          <p:nvPr/>
        </p:nvSpPr>
        <p:spPr>
          <a:xfrm>
            <a:off x="3714750" y="27203400"/>
            <a:ext cx="82867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1.1D CNN</a:t>
            </a:r>
            <a:r>
              <a:rPr lang="zh-TW" altLang="en-US" dirty="0"/>
              <a:t>捲積網路應用</a:t>
            </a:r>
            <a:endParaRPr lang="en-US" altLang="zh-TW" dirty="0"/>
          </a:p>
          <a:p>
            <a:r>
              <a:rPr lang="zh-TW" altLang="en-US" dirty="0"/>
              <a:t>為克服記憶體空間狹小的</a:t>
            </a:r>
            <a:r>
              <a:rPr lang="en-US" altLang="zh-TW" dirty="0"/>
              <a:t>MCU</a:t>
            </a:r>
            <a:r>
              <a:rPr lang="zh-TW" altLang="en-US" dirty="0"/>
              <a:t>，專案捨棄參數量龐大的</a:t>
            </a:r>
            <a:r>
              <a:rPr lang="en-US" altLang="zh-TW" dirty="0"/>
              <a:t>LSTM</a:t>
            </a:r>
            <a:r>
              <a:rPr lang="zh-TW" altLang="en-US" dirty="0"/>
              <a:t>模型，採用輕量化的一維捲積神經網路，模型採用了膨脹捲積的技術，並且由底層捲積核來捕捉氣體感測器陣列間的交叉敏感度，再經由上層卷積核來分析跨足數十秒的時序特徵。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48D4EAE-6ABF-EEA1-D17F-14DFC0955C1D}"/>
              </a:ext>
            </a:extLst>
          </p:cNvPr>
          <p:cNvSpPr txBox="1"/>
          <p:nvPr/>
        </p:nvSpPr>
        <p:spPr>
          <a:xfrm>
            <a:off x="3714750" y="28698230"/>
            <a:ext cx="82867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2.</a:t>
            </a:r>
            <a:r>
              <a:rPr lang="zh-TW" altLang="en-US" dirty="0"/>
              <a:t>模型輕量化</a:t>
            </a:r>
            <a:endParaRPr lang="en-US" altLang="zh-TW" dirty="0"/>
          </a:p>
          <a:p>
            <a:r>
              <a:rPr lang="zh-TW" altLang="en-US" dirty="0"/>
              <a:t>模型再經由</a:t>
            </a:r>
            <a:r>
              <a:rPr lang="en-US" altLang="zh-TW" dirty="0"/>
              <a:t>PC</a:t>
            </a:r>
            <a:r>
              <a:rPr lang="zh-TW" altLang="en-US" dirty="0"/>
              <a:t>訓練完成後為了縮小體積使其足以在僅有</a:t>
            </a:r>
            <a:r>
              <a:rPr lang="en-US" altLang="zh-TW" dirty="0"/>
              <a:t>32kB SRAM</a:t>
            </a:r>
            <a:r>
              <a:rPr lang="zh-TW" altLang="en-US" dirty="0"/>
              <a:t>的</a:t>
            </a:r>
            <a:r>
              <a:rPr lang="en-US" altLang="zh-TW" dirty="0"/>
              <a:t>MCU</a:t>
            </a:r>
            <a:r>
              <a:rPr lang="zh-TW" altLang="en-US" dirty="0"/>
              <a:t>上運行，我們對模型進行剪枝，刪除掉無足輕重的神經元，並對</a:t>
            </a:r>
            <a:r>
              <a:rPr lang="en-US" altLang="zh-TW" dirty="0"/>
              <a:t>float32</a:t>
            </a:r>
            <a:r>
              <a:rPr lang="zh-TW" altLang="en-US" dirty="0"/>
              <a:t>的原始權重做</a:t>
            </a:r>
            <a:r>
              <a:rPr lang="en-US" altLang="zh-TW" dirty="0"/>
              <a:t>INT8</a:t>
            </a:r>
            <a:r>
              <a:rPr lang="zh-TW" altLang="en-US" dirty="0"/>
              <a:t>的量化，使其更適配未有</a:t>
            </a:r>
            <a:r>
              <a:rPr lang="en-US" altLang="zh-TW" dirty="0"/>
              <a:t>FPU</a:t>
            </a:r>
            <a:r>
              <a:rPr lang="zh-TW" altLang="en-US" dirty="0"/>
              <a:t>的</a:t>
            </a:r>
            <a:r>
              <a:rPr lang="en-US" altLang="zh-TW" dirty="0"/>
              <a:t>Cortex-M0+</a:t>
            </a:r>
            <a:r>
              <a:rPr lang="zh-TW" altLang="en-US" dirty="0"/>
              <a:t>。並搭配 </a:t>
            </a:r>
            <a:r>
              <a:rPr lang="en-US" altLang="zh-TW" dirty="0"/>
              <a:t>TensorFlow Lite for Microcontrollers </a:t>
            </a:r>
            <a:r>
              <a:rPr lang="zh-TW" altLang="en-US" dirty="0"/>
              <a:t>框架與 </a:t>
            </a:r>
            <a:r>
              <a:rPr lang="en-US" altLang="zh-TW" dirty="0"/>
              <a:t>Arm </a:t>
            </a:r>
            <a:r>
              <a:rPr lang="zh-TW" altLang="en-US" dirty="0"/>
              <a:t>官方的 </a:t>
            </a:r>
            <a:r>
              <a:rPr lang="en-US" altLang="zh-TW" dirty="0"/>
              <a:t>CMSIS-NN </a:t>
            </a:r>
            <a:r>
              <a:rPr lang="zh-TW" altLang="en-US" dirty="0"/>
              <a:t>函式庫，劃分出一塊連續的靜態記憶體專供矩陣運算使用。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343FFC3-58F7-0BBA-97C5-5CA2ED64BE4D}"/>
              </a:ext>
            </a:extLst>
          </p:cNvPr>
          <p:cNvSpPr txBox="1"/>
          <p:nvPr/>
        </p:nvSpPr>
        <p:spPr>
          <a:xfrm>
            <a:off x="3714750" y="31006319"/>
            <a:ext cx="82867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3.Agentic</a:t>
            </a:r>
            <a:r>
              <a:rPr lang="zh-TW" altLang="en-US" dirty="0"/>
              <a:t> </a:t>
            </a:r>
            <a:r>
              <a:rPr lang="en-US" altLang="zh-TW" dirty="0"/>
              <a:t>AI</a:t>
            </a:r>
          </a:p>
          <a:p>
            <a:r>
              <a:rPr lang="zh-TW" altLang="en-US" dirty="0"/>
              <a:t>我們架構設計為非對稱式分散運算，微控制器端只負責專執行資料採樣、</a:t>
            </a:r>
            <a:r>
              <a:rPr lang="en-US" altLang="zh-TW" dirty="0"/>
              <a:t>FHT </a:t>
            </a:r>
            <a:r>
              <a:rPr lang="zh-TW" altLang="en-US" dirty="0"/>
              <a:t>濾波與 </a:t>
            </a:r>
            <a:r>
              <a:rPr lang="en-US" altLang="zh-TW" dirty="0"/>
              <a:t>1D-CNN </a:t>
            </a:r>
            <a:r>
              <a:rPr lang="zh-TW" altLang="en-US" dirty="0"/>
              <a:t>推論，最後輸出低維度資料，而真正的大腦是運行於手機或雲端伺服器的大型語言模型，雲端大腦與邊緣硬體之間，透過</a:t>
            </a:r>
            <a:r>
              <a:rPr lang="en-US" altLang="zh-TW" dirty="0"/>
              <a:t>MCP</a:t>
            </a:r>
            <a:r>
              <a:rPr lang="zh-TW" altLang="en-US" dirty="0"/>
              <a:t>進行通訊。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383542D-4087-96DE-2F26-6F9F55C9C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3051" y="27963986"/>
            <a:ext cx="8461523" cy="3519993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C84EAE4F-7932-0378-A48F-5A0EF6A314BC}"/>
              </a:ext>
            </a:extLst>
          </p:cNvPr>
          <p:cNvSpPr txBox="1"/>
          <p:nvPr/>
        </p:nvSpPr>
        <p:spPr>
          <a:xfrm>
            <a:off x="13060437" y="31806419"/>
            <a:ext cx="8286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/>
              <a:t>一維神經網路概念圖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161838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302</TotalTime>
  <Words>520</Words>
  <Application>Microsoft Office PowerPoint</Application>
  <PresentationFormat>自訂</PresentationFormat>
  <Paragraphs>29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STLiti</vt:lpstr>
      <vt:lpstr>標楷體</vt:lpstr>
      <vt:lpstr>Arial</vt:lpstr>
      <vt:lpstr>Calibri</vt:lpstr>
      <vt:lpstr>Calibri Light</vt:lpstr>
      <vt:lpstr>Office 佈景主題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Kira</dc:creator>
  <cp:lastModifiedBy>興毅 蔣</cp:lastModifiedBy>
  <cp:revision>19</cp:revision>
  <dcterms:created xsi:type="dcterms:W3CDTF">2015-02-16T08:19:47Z</dcterms:created>
  <dcterms:modified xsi:type="dcterms:W3CDTF">2026-03-26T13:11:35Z</dcterms:modified>
</cp:coreProperties>
</file>